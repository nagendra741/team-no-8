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32" r:id="rId1"/>
  </p:sldMasterIdLst>
  <p:notesMasterIdLst>
    <p:notesMasterId r:id="rId19"/>
  </p:notesMasterIdLst>
  <p:sldIdLst>
    <p:sldId id="256" r:id="rId2"/>
    <p:sldId id="266" r:id="rId3"/>
    <p:sldId id="267" r:id="rId4"/>
    <p:sldId id="270" r:id="rId5"/>
    <p:sldId id="258" r:id="rId6"/>
    <p:sldId id="259" r:id="rId7"/>
    <p:sldId id="260" r:id="rId8"/>
    <p:sldId id="262" r:id="rId9"/>
    <p:sldId id="268" r:id="rId10"/>
    <p:sldId id="269" r:id="rId11"/>
    <p:sldId id="263" r:id="rId12"/>
    <p:sldId id="271" r:id="rId13"/>
    <p:sldId id="272" r:id="rId14"/>
    <p:sldId id="273" r:id="rId15"/>
    <p:sldId id="261" r:id="rId16"/>
    <p:sldId id="264" r:id="rId17"/>
    <p:sldId id="265" r:id="rId18"/>
  </p:sldIdLst>
  <p:sldSz cx="14630400" cy="8229600"/>
  <p:notesSz cx="8229600" cy="14630400"/>
  <p:embeddedFontLst>
    <p:embeddedFont>
      <p:font typeface="Century Gothic" panose="020B0502020202020204" pitchFamily="34" charset="0"/>
      <p:regular r:id="rId20"/>
      <p:bold r:id="rId21"/>
      <p:italic r:id="rId22"/>
      <p:boldItalic r:id="rId23"/>
    </p:embeddedFont>
    <p:embeddedFont>
      <p:font typeface="Patrick Hand" panose="00000500000000000000" pitchFamily="2" charset="0"/>
      <p:regular r:id="rId24"/>
    </p:embeddedFont>
    <p:embeddedFont>
      <p:font typeface="Wingdings 3" panose="05040102010807070707" pitchFamily="18" charset="2"/>
      <p:regular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7822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85946" y="1737361"/>
            <a:ext cx="10590790" cy="3995497"/>
          </a:xfrm>
        </p:spPr>
        <p:txBody>
          <a:bodyPr anchor="b"/>
          <a:lstStyle>
            <a:lvl1pPr>
              <a:defRPr sz="8640"/>
            </a:lvl1pPr>
          </a:lstStyle>
          <a:p>
            <a:r>
              <a:rPr lang="en-US"/>
              <a:t>Click to edit Master title style</a:t>
            </a:r>
            <a:endParaRPr lang="en-US" dirty="0"/>
          </a:p>
        </p:txBody>
      </p:sp>
      <p:sp>
        <p:nvSpPr>
          <p:cNvPr id="3" name="Subtitle 2"/>
          <p:cNvSpPr>
            <a:spLocks noGrp="1"/>
          </p:cNvSpPr>
          <p:nvPr>
            <p:ph type="subTitle" idx="1"/>
          </p:nvPr>
        </p:nvSpPr>
        <p:spPr>
          <a:xfrm>
            <a:off x="1385946" y="5732856"/>
            <a:ext cx="10590790" cy="1033704"/>
          </a:xfrm>
        </p:spPr>
        <p:txBody>
          <a:bodyPr anchor="t"/>
          <a:lstStyle>
            <a:lvl1pPr marL="0" indent="0" algn="l">
              <a:buNone/>
              <a:defRPr cap="all">
                <a:solidFill>
                  <a:schemeClr val="bg2">
                    <a:lumMod val="40000"/>
                    <a:lumOff val="6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0263064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2647F38-B617-4D2F-AE0A-013F0C4D2C57}" type="datetimeFigureOut">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205431263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85948" y="3434080"/>
            <a:ext cx="10590788" cy="2298776"/>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385946" y="5732857"/>
            <a:ext cx="10590790" cy="1032480"/>
          </a:xfrm>
        </p:spPr>
        <p:txBody>
          <a:bodyPr anchor="t"/>
          <a:lstStyle>
            <a:lvl1pPr marL="0" indent="0" algn="l">
              <a:buNone/>
              <a:defRPr sz="2400" cap="all">
                <a:solidFill>
                  <a:schemeClr val="bg2">
                    <a:lumMod val="40000"/>
                    <a:lumOff val="6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153957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23975" y="2472690"/>
            <a:ext cx="5275607" cy="5034916"/>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785392" y="2467311"/>
            <a:ext cx="5275609" cy="5040294"/>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332183727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3975" y="2286000"/>
            <a:ext cx="5275606"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23975" y="3017520"/>
            <a:ext cx="5275607" cy="4490086"/>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785395" y="2286000"/>
            <a:ext cx="5275607"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785395" y="3017520"/>
            <a:ext cx="5275607" cy="4490086"/>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3959815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538460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1457766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944" y="1737360"/>
            <a:ext cx="4081277" cy="1737360"/>
          </a:xfrm>
        </p:spPr>
        <p:txBody>
          <a:bodyPr anchor="b"/>
          <a:lstStyle>
            <a:lvl1pPr algn="l">
              <a:defRPr sz="2880" b="0"/>
            </a:lvl1pPr>
          </a:lstStyle>
          <a:p>
            <a:r>
              <a:rPr lang="en-US"/>
              <a:t>Click to edit Master title style</a:t>
            </a:r>
            <a:endParaRPr lang="en-US" dirty="0"/>
          </a:p>
        </p:txBody>
      </p:sp>
      <p:sp>
        <p:nvSpPr>
          <p:cNvPr id="3" name="Content Placeholder 2"/>
          <p:cNvSpPr>
            <a:spLocks noGrp="1"/>
          </p:cNvSpPr>
          <p:nvPr>
            <p:ph idx="1"/>
          </p:nvPr>
        </p:nvSpPr>
        <p:spPr>
          <a:xfrm>
            <a:off x="5741540" y="1737360"/>
            <a:ext cx="6235196" cy="5486400"/>
          </a:xfrm>
        </p:spPr>
        <p:txBody>
          <a:bodyPr anchor="ctr">
            <a:normAutofit/>
          </a:bodyPr>
          <a:lstStyle>
            <a:lvl1pPr>
              <a:defRPr sz="2400"/>
            </a:lvl1pPr>
            <a:lvl2pPr>
              <a:defRPr sz="2160"/>
            </a:lvl2pPr>
            <a:lvl3pPr>
              <a:defRPr sz="192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85944" y="3755137"/>
            <a:ext cx="4081276" cy="3474719"/>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7" name="Date Placeholder 4"/>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002829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4689" y="2225030"/>
            <a:ext cx="6111487" cy="1889770"/>
          </a:xfrm>
        </p:spPr>
        <p:txBody>
          <a:bodyPr anchor="b">
            <a:normAutofit/>
          </a:bodyPr>
          <a:lstStyle>
            <a:lvl1pPr algn="l">
              <a:defRPr sz="432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39455" y="1371600"/>
            <a:ext cx="3840480" cy="548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385945" y="4389120"/>
            <a:ext cx="6101975" cy="1645920"/>
          </a:xfrm>
        </p:spPr>
        <p:txBody>
          <a:bodyPr>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85659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948" y="5760704"/>
            <a:ext cx="10590788"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85946" y="822960"/>
            <a:ext cx="10590790" cy="436879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385947" y="6440790"/>
            <a:ext cx="10590787" cy="592454"/>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21273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945" y="1737360"/>
            <a:ext cx="10590791" cy="2377440"/>
          </a:xfrm>
        </p:spPr>
        <p:txBody>
          <a:bodyPr/>
          <a:lstStyle>
            <a:lvl1pPr>
              <a:defRPr sz="5760"/>
            </a:lvl1pPr>
          </a:lstStyle>
          <a:p>
            <a:r>
              <a:rPr lang="en-US"/>
              <a:t>Click to edit Master title style</a:t>
            </a:r>
            <a:endParaRPr lang="en-US" dirty="0"/>
          </a:p>
        </p:txBody>
      </p:sp>
      <p:sp>
        <p:nvSpPr>
          <p:cNvPr id="8" name="Text Placeholder 3"/>
          <p:cNvSpPr>
            <a:spLocks noGrp="1"/>
          </p:cNvSpPr>
          <p:nvPr>
            <p:ph type="body" sz="half" idx="2"/>
          </p:nvPr>
        </p:nvSpPr>
        <p:spPr>
          <a:xfrm>
            <a:off x="1385945" y="4389120"/>
            <a:ext cx="10590791" cy="2834640"/>
          </a:xfrm>
        </p:spPr>
        <p:txBody>
          <a:bodyPr anchor="ctr">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8716315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762" y="1737360"/>
            <a:ext cx="9599178" cy="2788049"/>
          </a:xfrm>
        </p:spPr>
        <p:txBody>
          <a:bodyPr/>
          <a:lstStyle>
            <a:lvl1pPr>
              <a:defRPr sz="5760"/>
            </a:lvl1pPr>
          </a:lstStyle>
          <a:p>
            <a:r>
              <a:rPr lang="en-US"/>
              <a:t>Click to edit Master title style</a:t>
            </a:r>
            <a:endParaRPr lang="en-US" dirty="0"/>
          </a:p>
        </p:txBody>
      </p:sp>
      <p:sp>
        <p:nvSpPr>
          <p:cNvPr id="11" name="Text Placeholder 3"/>
          <p:cNvSpPr>
            <a:spLocks noGrp="1"/>
          </p:cNvSpPr>
          <p:nvPr>
            <p:ph type="body" sz="half" idx="14"/>
          </p:nvPr>
        </p:nvSpPr>
        <p:spPr>
          <a:xfrm>
            <a:off x="2316481" y="4525409"/>
            <a:ext cx="8735579" cy="410609"/>
          </a:xfrm>
        </p:spPr>
        <p:txBody>
          <a:bodyPr vert="horz" lIns="91440" tIns="45720" rIns="91440" bIns="45720" rtlCol="0" anchor="t">
            <a:normAutofit/>
          </a:bodyPr>
          <a:lstStyle>
            <a:lvl1pPr marL="0" indent="0">
              <a:buNone/>
              <a:defRPr lang="en-US" sz="1680" b="0" i="0" kern="1200" cap="small" dirty="0">
                <a:solidFill>
                  <a:schemeClr val="bg2">
                    <a:lumMod val="40000"/>
                    <a:lumOff val="60000"/>
                  </a:schemeClr>
                </a:solidFill>
                <a:latin typeface="+mj-lt"/>
                <a:ea typeface="+mj-ea"/>
                <a:cs typeface="+mj-cs"/>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marL="0" lvl="0" indent="0">
              <a:buNone/>
            </a:pPr>
            <a:r>
              <a:rPr lang="en-US"/>
              <a:t>Click to edit Master text styles</a:t>
            </a:r>
          </a:p>
        </p:txBody>
      </p:sp>
      <p:sp>
        <p:nvSpPr>
          <p:cNvPr id="10" name="Text Placeholder 3"/>
          <p:cNvSpPr>
            <a:spLocks noGrp="1"/>
          </p:cNvSpPr>
          <p:nvPr>
            <p:ph type="body" sz="half" idx="2"/>
          </p:nvPr>
        </p:nvSpPr>
        <p:spPr>
          <a:xfrm>
            <a:off x="1385945" y="5220788"/>
            <a:ext cx="10590791" cy="2011680"/>
          </a:xfrm>
        </p:spPr>
        <p:txBody>
          <a:bodyPr anchor="ctr">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1077954" y="1165504"/>
            <a:ext cx="962294" cy="2345257"/>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4640" dirty="0"/>
              <a:t>“</a:t>
            </a:r>
          </a:p>
        </p:txBody>
      </p:sp>
      <p:sp>
        <p:nvSpPr>
          <p:cNvPr id="15" name="TextBox 14"/>
          <p:cNvSpPr txBox="1"/>
          <p:nvPr/>
        </p:nvSpPr>
        <p:spPr>
          <a:xfrm>
            <a:off x="11196588" y="3136545"/>
            <a:ext cx="962294" cy="2345257"/>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4640" dirty="0"/>
              <a:t>”</a:t>
            </a:r>
          </a:p>
        </p:txBody>
      </p:sp>
    </p:spTree>
    <p:extLst>
      <p:ext uri="{BB962C8B-B14F-4D97-AF65-F5344CB8AC3E}">
        <p14:creationId xmlns:p14="http://schemas.microsoft.com/office/powerpoint/2010/main" val="6594422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385945" y="3749041"/>
            <a:ext cx="10590792" cy="1983816"/>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385945" y="5732857"/>
            <a:ext cx="10590791" cy="1032480"/>
          </a:xfrm>
        </p:spPr>
        <p:txBody>
          <a:bodyPr anchor="t"/>
          <a:lstStyle>
            <a:lvl1pPr marL="0" indent="0" algn="l">
              <a:buNone/>
              <a:defRPr sz="2400" cap="none">
                <a:solidFill>
                  <a:schemeClr val="bg2">
                    <a:lumMod val="40000"/>
                    <a:lumOff val="6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981780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040"/>
            </a:lvl1pPr>
          </a:lstStyle>
          <a:p>
            <a:r>
              <a:rPr lang="en-US"/>
              <a:t>Click to edit Master title style</a:t>
            </a:r>
            <a:endParaRPr lang="en-US" dirty="0"/>
          </a:p>
        </p:txBody>
      </p:sp>
      <p:sp>
        <p:nvSpPr>
          <p:cNvPr id="3" name="Text Placeholder 2"/>
          <p:cNvSpPr>
            <a:spLocks noGrp="1"/>
          </p:cNvSpPr>
          <p:nvPr>
            <p:ph type="body" idx="1"/>
          </p:nvPr>
        </p:nvSpPr>
        <p:spPr>
          <a:xfrm>
            <a:off x="759537" y="2377440"/>
            <a:ext cx="3536239"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6" name="Text Placeholder 3"/>
          <p:cNvSpPr>
            <a:spLocks noGrp="1"/>
          </p:cNvSpPr>
          <p:nvPr>
            <p:ph type="body" sz="half" idx="15"/>
          </p:nvPr>
        </p:nvSpPr>
        <p:spPr>
          <a:xfrm>
            <a:off x="782956" y="3200400"/>
            <a:ext cx="3512820"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Text Placeholder 4"/>
          <p:cNvSpPr>
            <a:spLocks noGrp="1"/>
          </p:cNvSpPr>
          <p:nvPr>
            <p:ph type="body" sz="quarter" idx="3"/>
          </p:nvPr>
        </p:nvSpPr>
        <p:spPr>
          <a:xfrm>
            <a:off x="4660392" y="2377440"/>
            <a:ext cx="3523489"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9" name="Text Placeholder 3"/>
          <p:cNvSpPr>
            <a:spLocks noGrp="1"/>
          </p:cNvSpPr>
          <p:nvPr>
            <p:ph type="body" sz="half" idx="16"/>
          </p:nvPr>
        </p:nvSpPr>
        <p:spPr>
          <a:xfrm>
            <a:off x="4647727" y="3200400"/>
            <a:ext cx="3536153"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4" name="Text Placeholder 4"/>
          <p:cNvSpPr>
            <a:spLocks noGrp="1"/>
          </p:cNvSpPr>
          <p:nvPr>
            <p:ph type="body" sz="quarter" idx="13"/>
          </p:nvPr>
        </p:nvSpPr>
        <p:spPr>
          <a:xfrm>
            <a:off x="8549640" y="2377440"/>
            <a:ext cx="3518536"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Text Placeholder 3"/>
          <p:cNvSpPr>
            <a:spLocks noGrp="1"/>
          </p:cNvSpPr>
          <p:nvPr>
            <p:ph type="body" sz="half" idx="17"/>
          </p:nvPr>
        </p:nvSpPr>
        <p:spPr>
          <a:xfrm>
            <a:off x="8549640" y="3200400"/>
            <a:ext cx="3518536"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cxnSp>
        <p:nvCxnSpPr>
          <p:cNvPr id="17" name="Straight Connector 16"/>
          <p:cNvCxnSpPr/>
          <p:nvPr/>
        </p:nvCxnSpPr>
        <p:spPr>
          <a:xfrm>
            <a:off x="4471370" y="2560320"/>
            <a:ext cx="0" cy="475488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8354672" y="2560320"/>
            <a:ext cx="0" cy="4760258"/>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112334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040"/>
            </a:lvl1pPr>
          </a:lstStyle>
          <a:p>
            <a:r>
              <a:rPr lang="en-US"/>
              <a:t>Click to edit Master title style</a:t>
            </a:r>
            <a:endParaRPr lang="en-US" dirty="0"/>
          </a:p>
        </p:txBody>
      </p:sp>
      <p:sp>
        <p:nvSpPr>
          <p:cNvPr id="3" name="Text Placeholder 2"/>
          <p:cNvSpPr>
            <a:spLocks noGrp="1"/>
          </p:cNvSpPr>
          <p:nvPr>
            <p:ph type="body" idx="1"/>
          </p:nvPr>
        </p:nvSpPr>
        <p:spPr>
          <a:xfrm>
            <a:off x="782956" y="5101139"/>
            <a:ext cx="3528060"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9" name="Picture Placeholder 2"/>
          <p:cNvSpPr>
            <a:spLocks noGrp="1" noChangeAspect="1"/>
          </p:cNvSpPr>
          <p:nvPr>
            <p:ph type="pic" idx="15"/>
          </p:nvPr>
        </p:nvSpPr>
        <p:spPr>
          <a:xfrm>
            <a:off x="782956" y="2651760"/>
            <a:ext cx="3528060"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2" name="Text Placeholder 3"/>
          <p:cNvSpPr>
            <a:spLocks noGrp="1"/>
          </p:cNvSpPr>
          <p:nvPr>
            <p:ph type="body" sz="half" idx="18"/>
          </p:nvPr>
        </p:nvSpPr>
        <p:spPr>
          <a:xfrm>
            <a:off x="782956" y="5792654"/>
            <a:ext cx="3528060"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Text Placeholder 4"/>
          <p:cNvSpPr>
            <a:spLocks noGrp="1"/>
          </p:cNvSpPr>
          <p:nvPr>
            <p:ph type="body" sz="quarter" idx="3"/>
          </p:nvPr>
        </p:nvSpPr>
        <p:spPr>
          <a:xfrm>
            <a:off x="4667251" y="5101139"/>
            <a:ext cx="3516630"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30" name="Picture Placeholder 2"/>
          <p:cNvSpPr>
            <a:spLocks noGrp="1" noChangeAspect="1"/>
          </p:cNvSpPr>
          <p:nvPr>
            <p:ph type="pic" idx="21"/>
          </p:nvPr>
        </p:nvSpPr>
        <p:spPr>
          <a:xfrm>
            <a:off x="4667249" y="2651760"/>
            <a:ext cx="3516630"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3" name="Text Placeholder 3"/>
          <p:cNvSpPr>
            <a:spLocks noGrp="1"/>
          </p:cNvSpPr>
          <p:nvPr>
            <p:ph type="body" sz="half" idx="19"/>
          </p:nvPr>
        </p:nvSpPr>
        <p:spPr>
          <a:xfrm>
            <a:off x="4665627" y="5792653"/>
            <a:ext cx="3521287"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4" name="Text Placeholder 4"/>
          <p:cNvSpPr>
            <a:spLocks noGrp="1"/>
          </p:cNvSpPr>
          <p:nvPr>
            <p:ph type="body" sz="quarter" idx="13"/>
          </p:nvPr>
        </p:nvSpPr>
        <p:spPr>
          <a:xfrm>
            <a:off x="8549640" y="5101139"/>
            <a:ext cx="3518536" cy="691514"/>
          </a:xfrm>
        </p:spPr>
        <p:txBody>
          <a:bodyPr anchor="b">
            <a:noAutofit/>
          </a:bodyPr>
          <a:lstStyle>
            <a:lvl1pPr marL="0" indent="0">
              <a:buNone/>
              <a:defRPr sz="2880" b="0">
                <a:solidFill>
                  <a:schemeClr val="bg2">
                    <a:lumMod val="40000"/>
                    <a:lumOff val="6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31" name="Picture Placeholder 2"/>
          <p:cNvSpPr>
            <a:spLocks noGrp="1" noChangeAspect="1"/>
          </p:cNvSpPr>
          <p:nvPr>
            <p:ph type="pic" idx="22"/>
          </p:nvPr>
        </p:nvSpPr>
        <p:spPr>
          <a:xfrm>
            <a:off x="8549639" y="2651760"/>
            <a:ext cx="3518536"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4" name="Text Placeholder 3"/>
          <p:cNvSpPr>
            <a:spLocks noGrp="1"/>
          </p:cNvSpPr>
          <p:nvPr>
            <p:ph type="body" sz="half" idx="20"/>
          </p:nvPr>
        </p:nvSpPr>
        <p:spPr>
          <a:xfrm>
            <a:off x="8549491" y="5792650"/>
            <a:ext cx="3523196"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cxnSp>
        <p:nvCxnSpPr>
          <p:cNvPr id="19" name="Straight Connector 18"/>
          <p:cNvCxnSpPr/>
          <p:nvPr/>
        </p:nvCxnSpPr>
        <p:spPr>
          <a:xfrm>
            <a:off x="4471370" y="2560320"/>
            <a:ext cx="0" cy="475488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8354672" y="2560320"/>
            <a:ext cx="0" cy="4760258"/>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472649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8766381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965055" y="516256"/>
            <a:ext cx="2103121" cy="699135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782956" y="1064897"/>
            <a:ext cx="8907779" cy="644270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4453010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7835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3316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9958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1700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183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4">
            <a:extLst>
              <a:ext uri="{28A0092B-C50C-407E-A947-70E740481C1C}">
                <a14:useLocalDpi xmlns:a14="http://schemas.microsoft.com/office/drawing/2010/main" val="0"/>
              </a:ext>
            </a:extLst>
          </a:blip>
          <a:srcRect l="3613"/>
          <a:stretch/>
        </p:blipFill>
        <p:spPr>
          <a:xfrm>
            <a:off x="0" y="3203623"/>
            <a:ext cx="4844414" cy="5025978"/>
          </a:xfrm>
          <a:prstGeom prst="rect">
            <a:avLst/>
          </a:prstGeom>
        </p:spPr>
      </p:pic>
      <p:pic>
        <p:nvPicPr>
          <p:cNvPr id="7" name="Picture 6"/>
          <p:cNvPicPr>
            <a:picLocks noChangeAspect="1"/>
          </p:cNvPicPr>
          <p:nvPr/>
        </p:nvPicPr>
        <p:blipFill rotWithShape="1">
          <a:blip r:embed="rId25">
            <a:extLst>
              <a:ext uri="{28A0092B-C50C-407E-A947-70E740481C1C}">
                <a14:useLocalDpi xmlns:a14="http://schemas.microsoft.com/office/drawing/2010/main" val="0"/>
              </a:ext>
            </a:extLst>
          </a:blip>
          <a:srcRect l="35640"/>
          <a:stretch/>
        </p:blipFill>
        <p:spPr>
          <a:xfrm>
            <a:off x="0" y="3470817"/>
            <a:ext cx="1826894" cy="2838544"/>
          </a:xfrm>
          <a:prstGeom prst="rect">
            <a:avLst/>
          </a:prstGeom>
        </p:spPr>
      </p:pic>
      <p:sp>
        <p:nvSpPr>
          <p:cNvPr id="16" name="Oval 15"/>
          <p:cNvSpPr/>
          <p:nvPr/>
        </p:nvSpPr>
        <p:spPr>
          <a:xfrm>
            <a:off x="10330814" y="2011680"/>
            <a:ext cx="3383280" cy="338328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6">
            <a:extLst>
              <a:ext uri="{28A0092B-C50C-407E-A947-70E740481C1C}">
                <a14:useLocalDpi xmlns:a14="http://schemas.microsoft.com/office/drawing/2010/main" val="0"/>
              </a:ext>
            </a:extLst>
          </a:blip>
          <a:srcRect t="28813"/>
          <a:stretch/>
        </p:blipFill>
        <p:spPr>
          <a:xfrm>
            <a:off x="9599295" y="1"/>
            <a:ext cx="1924064" cy="1369688"/>
          </a:xfrm>
          <a:prstGeom prst="rect">
            <a:avLst/>
          </a:prstGeom>
        </p:spPr>
      </p:pic>
      <p:pic>
        <p:nvPicPr>
          <p:cNvPr id="10" name="Picture 9"/>
          <p:cNvPicPr>
            <a:picLocks noChangeAspect="1"/>
          </p:cNvPicPr>
          <p:nvPr/>
        </p:nvPicPr>
        <p:blipFill rotWithShape="1">
          <a:blip r:embed="rId27">
            <a:extLst>
              <a:ext uri="{28A0092B-C50C-407E-A947-70E740481C1C}">
                <a14:useLocalDpi xmlns:a14="http://schemas.microsoft.com/office/drawing/2010/main" val="0"/>
              </a:ext>
            </a:extLst>
          </a:blip>
          <a:srcRect b="23320"/>
          <a:stretch/>
        </p:blipFill>
        <p:spPr>
          <a:xfrm>
            <a:off x="10327054" y="7315200"/>
            <a:ext cx="1192481" cy="914400"/>
          </a:xfrm>
          <a:prstGeom prst="rect">
            <a:avLst/>
          </a:prstGeom>
        </p:spPr>
      </p:pic>
      <p:sp>
        <p:nvSpPr>
          <p:cNvPr id="14" name="Rectangle 13"/>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775334" y="543262"/>
            <a:ext cx="11285668" cy="1680636"/>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323975" y="2463502"/>
            <a:ext cx="10735849" cy="50345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2186767" y="2148842"/>
            <a:ext cx="1188719" cy="365759"/>
          </a:xfrm>
          <a:prstGeom prst="rect">
            <a:avLst/>
          </a:prstGeom>
        </p:spPr>
        <p:txBody>
          <a:bodyPr vert="horz" lIns="91440" tIns="45720" rIns="91440" bIns="45720" rtlCol="0" anchor="t"/>
          <a:lstStyle>
            <a:lvl1pPr algn="l">
              <a:defRPr sz="1320" b="0" i="0">
                <a:solidFill>
                  <a:schemeClr val="tx1">
                    <a:tint val="75000"/>
                    <a:alpha val="60000"/>
                  </a:schemeClr>
                </a:solidFill>
              </a:defRPr>
            </a:lvl1pPr>
          </a:lstStyle>
          <a:p>
            <a:fld id="{B61BEF0D-F0BB-DE4B-95CE-6DB70DBA9567}" type="datetimeFigureOut">
              <a:rPr lang="en-US" smtClean="0"/>
              <a:pPr/>
              <a:t>2/24/2026</a:t>
            </a:fld>
            <a:endParaRPr lang="en-US" dirty="0"/>
          </a:p>
        </p:txBody>
      </p:sp>
      <p:sp>
        <p:nvSpPr>
          <p:cNvPr id="5" name="Footer Placeholder 4"/>
          <p:cNvSpPr>
            <a:spLocks noGrp="1"/>
          </p:cNvSpPr>
          <p:nvPr>
            <p:ph type="ftr" sz="quarter" idx="3"/>
          </p:nvPr>
        </p:nvSpPr>
        <p:spPr>
          <a:xfrm rot="5400000">
            <a:off x="10741888" y="3870357"/>
            <a:ext cx="4631754" cy="365761"/>
          </a:xfrm>
          <a:prstGeom prst="rect">
            <a:avLst/>
          </a:prstGeom>
        </p:spPr>
        <p:txBody>
          <a:bodyPr vert="horz" lIns="91440" tIns="45720" rIns="91440" bIns="45720" rtlCol="0" anchor="b"/>
          <a:lstStyle>
            <a:lvl1pPr algn="l">
              <a:defRPr sz="132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2423049" y="354876"/>
            <a:ext cx="1005839" cy="921224"/>
          </a:xfrm>
          <a:prstGeom prst="rect">
            <a:avLst/>
          </a:prstGeom>
        </p:spPr>
        <p:txBody>
          <a:bodyPr vert="horz" lIns="91440" tIns="45720" rIns="91440" bIns="45720" rtlCol="0" anchor="b"/>
          <a:lstStyle>
            <a:lvl1pPr algn="ctr">
              <a:defRPr sz="336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112528"/>
      </p:ext>
    </p:extLst>
  </p:cSld>
  <p:clrMap bg1="dk1" tx1="lt1" bg2="dk2" tx2="lt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4" r:id="rId12"/>
    <p:sldLayoutId id="2147483845" r:id="rId13"/>
    <p:sldLayoutId id="2147483846" r:id="rId14"/>
    <p:sldLayoutId id="2147483847" r:id="rId15"/>
    <p:sldLayoutId id="2147483848" r:id="rId16"/>
    <p:sldLayoutId id="2147483849" r:id="rId17"/>
    <p:sldLayoutId id="2147483850" r:id="rId18"/>
    <p:sldLayoutId id="2147483851" r:id="rId19"/>
    <p:sldLayoutId id="2147483852" r:id="rId20"/>
    <p:sldLayoutId id="2147483853" r:id="rId21"/>
    <p:sldLayoutId id="2147483854" r:id="rId22"/>
  </p:sldLayoutIdLst>
  <p:hf sldNum="0" hdr="0" ftr="0" dt="0"/>
  <p:txStyles>
    <p:titleStyle>
      <a:lvl1pPr algn="l" defTabSz="548640" rtl="0" eaLnBrk="1" latinLnBrk="0" hangingPunct="1">
        <a:spcBef>
          <a:spcPct val="0"/>
        </a:spcBef>
        <a:buNone/>
        <a:defRPr sz="504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1pPr>
      <a:lvl2pPr marL="891540" indent="-342900" algn="l" defTabSz="548640" rtl="0" eaLnBrk="1" latinLnBrk="0" hangingPunct="1">
        <a:spcBef>
          <a:spcPts val="1200"/>
        </a:spcBef>
        <a:spcAft>
          <a:spcPts val="0"/>
        </a:spcAft>
        <a:buClr>
          <a:schemeClr val="bg2">
            <a:lumMod val="40000"/>
            <a:lumOff val="60000"/>
          </a:schemeClr>
        </a:buClr>
        <a:buSzPct val="80000"/>
        <a:buFont typeface="Wingdings 3" charset="2"/>
        <a:buChar char=""/>
        <a:defRPr sz="2160" b="0" i="0" kern="1200">
          <a:solidFill>
            <a:schemeClr val="tx1"/>
          </a:solidFill>
          <a:latin typeface="+mj-lt"/>
          <a:ea typeface="+mj-ea"/>
          <a:cs typeface="+mj-cs"/>
        </a:defRPr>
      </a:lvl2pPr>
      <a:lvl3pPr marL="137160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920" b="0" i="0" kern="1200">
          <a:solidFill>
            <a:schemeClr val="tx1"/>
          </a:solidFill>
          <a:latin typeface="+mj-lt"/>
          <a:ea typeface="+mj-ea"/>
          <a:cs typeface="+mj-cs"/>
        </a:defRPr>
      </a:lvl3pPr>
      <a:lvl4pPr marL="192024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4pPr>
      <a:lvl5pPr marL="246888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5pPr>
      <a:lvl6pPr marL="300720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6pPr>
      <a:lvl7pPr marL="356616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7pPr>
      <a:lvl8pPr marL="411480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8pPr>
      <a:lvl9pPr marL="4663440" indent="-274320" algn="l" defTabSz="548640" rtl="0" eaLnBrk="1" latinLnBrk="0" hangingPunct="1">
        <a:spcBef>
          <a:spcPts val="120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855245" y="424512"/>
            <a:ext cx="6775155" cy="1395413"/>
          </a:xfrm>
          <a:prstGeom prst="rect">
            <a:avLst/>
          </a:prstGeom>
          <a:noFill/>
          <a:ln/>
        </p:spPr>
        <p:txBody>
          <a:bodyPr wrap="square" lIns="0" tIns="0" rIns="0" bIns="0" rtlCol="0" anchor="t"/>
          <a:lstStyle/>
          <a:p>
            <a:r>
              <a:rPr lang="en-US" i="1" dirty="0"/>
              <a:t> </a:t>
            </a:r>
            <a:r>
              <a:rPr lang="en-US" sz="3200" i="1" dirty="0"/>
              <a:t>Optimized APP-Based Vehicle Routing Protocol                 </a:t>
            </a:r>
            <a:endParaRPr lang="en-IN" sz="3200" dirty="0"/>
          </a:p>
          <a:p>
            <a:br>
              <a:rPr lang="en-US" i="1" dirty="0"/>
            </a:br>
            <a:endParaRPr lang="en-US" sz="4300" dirty="0"/>
          </a:p>
        </p:txBody>
      </p:sp>
      <p:sp>
        <p:nvSpPr>
          <p:cNvPr id="5" name="Shape 1"/>
          <p:cNvSpPr/>
          <p:nvPr/>
        </p:nvSpPr>
        <p:spPr>
          <a:xfrm>
            <a:off x="8123444" y="1874094"/>
            <a:ext cx="6238756" cy="3022283"/>
          </a:xfrm>
          <a:prstGeom prst="roundRect">
            <a:avLst>
              <a:gd name="adj" fmla="val 4841"/>
            </a:avLst>
          </a:prstGeom>
          <a:solidFill>
            <a:srgbClr val="F7F7F7"/>
          </a:solidFill>
          <a:ln/>
        </p:spPr>
        <p:txBody>
          <a:bodyPr/>
          <a:lstStyle/>
          <a:p>
            <a:endParaRPr lang="en-IN" dirty="0"/>
          </a:p>
        </p:txBody>
      </p:sp>
      <p:sp>
        <p:nvSpPr>
          <p:cNvPr id="6" name="Shape 2"/>
          <p:cNvSpPr/>
          <p:nvPr/>
        </p:nvSpPr>
        <p:spPr>
          <a:xfrm>
            <a:off x="8281273" y="1855307"/>
            <a:ext cx="6238756" cy="121920"/>
          </a:xfrm>
          <a:prstGeom prst="roundRect">
            <a:avLst>
              <a:gd name="adj" fmla="val 76076"/>
            </a:avLst>
          </a:prstGeom>
          <a:solidFill>
            <a:srgbClr val="CCCCCC"/>
          </a:solidFill>
          <a:ln/>
        </p:spPr>
      </p:sp>
      <p:sp>
        <p:nvSpPr>
          <p:cNvPr id="7" name="Shape 3"/>
          <p:cNvSpPr/>
          <p:nvPr/>
        </p:nvSpPr>
        <p:spPr>
          <a:xfrm>
            <a:off x="11069360" y="1554555"/>
            <a:ext cx="662464" cy="662464"/>
          </a:xfrm>
          <a:prstGeom prst="roundRect">
            <a:avLst>
              <a:gd name="adj" fmla="val 138030"/>
            </a:avLst>
          </a:prstGeom>
          <a:solidFill>
            <a:srgbClr val="CCCCCC"/>
          </a:solidFill>
          <a:ln/>
        </p:spPr>
      </p:sp>
      <p:pic>
        <p:nvPicPr>
          <p:cNvPr id="8" name="Image 0" descr="preencoded.png"/>
          <p:cNvPicPr>
            <a:picLocks noChangeAspect="1"/>
          </p:cNvPicPr>
          <p:nvPr/>
        </p:nvPicPr>
        <p:blipFill>
          <a:blip r:embed="rId3"/>
          <a:stretch>
            <a:fillRect/>
          </a:stretch>
        </p:blipFill>
        <p:spPr>
          <a:xfrm>
            <a:off x="11268075" y="1720171"/>
            <a:ext cx="264914" cy="331232"/>
          </a:xfrm>
          <a:prstGeom prst="rect">
            <a:avLst/>
          </a:prstGeom>
        </p:spPr>
      </p:pic>
      <p:sp>
        <p:nvSpPr>
          <p:cNvPr id="9" name="Text 4"/>
          <p:cNvSpPr/>
          <p:nvPr/>
        </p:nvSpPr>
        <p:spPr>
          <a:xfrm>
            <a:off x="10296406" y="2459787"/>
            <a:ext cx="2208252" cy="275987"/>
          </a:xfrm>
          <a:prstGeom prst="rect">
            <a:avLst/>
          </a:prstGeom>
          <a:noFill/>
          <a:ln/>
        </p:spPr>
        <p:txBody>
          <a:bodyPr wrap="none" lIns="0" tIns="0" rIns="0" bIns="0" rtlCol="0" anchor="t"/>
          <a:lstStyle/>
          <a:p>
            <a:pPr marL="0" indent="0" algn="ctr">
              <a:lnSpc>
                <a:spcPts val="2150"/>
              </a:lnSpc>
              <a:buNone/>
            </a:pPr>
            <a:r>
              <a:rPr lang="en-US" sz="1700" dirty="0">
                <a:solidFill>
                  <a:srgbClr val="383838"/>
                </a:solidFill>
                <a:latin typeface="Patrick Hand" pitchFamily="34" charset="0"/>
                <a:ea typeface="Patrick Hand" pitchFamily="34" charset="-122"/>
                <a:cs typeface="Patrick Hand" pitchFamily="34" charset="-120"/>
              </a:rPr>
              <a:t>Students</a:t>
            </a:r>
            <a:endParaRPr lang="en-US" sz="1700" dirty="0"/>
          </a:p>
        </p:txBody>
      </p:sp>
      <p:sp>
        <p:nvSpPr>
          <p:cNvPr id="10" name="Text 5"/>
          <p:cNvSpPr/>
          <p:nvPr/>
        </p:nvSpPr>
        <p:spPr>
          <a:xfrm>
            <a:off x="8532495" y="2846145"/>
            <a:ext cx="5736312" cy="353378"/>
          </a:xfrm>
          <a:prstGeom prst="rect">
            <a:avLst/>
          </a:prstGeom>
          <a:noFill/>
          <a:ln/>
        </p:spPr>
        <p:txBody>
          <a:bodyPr wrap="none" lIns="0" tIns="0" rIns="0" bIns="0" rtlCol="0" anchor="t"/>
          <a:lstStyle/>
          <a:p>
            <a:pPr marL="0" indent="0" algn="l">
              <a:lnSpc>
                <a:spcPts val="2750"/>
              </a:lnSpc>
              <a:buNone/>
            </a:pPr>
            <a:endParaRPr lang="en-US" sz="1700" dirty="0"/>
          </a:p>
        </p:txBody>
      </p:sp>
      <p:sp>
        <p:nvSpPr>
          <p:cNvPr id="11" name="Text 6"/>
          <p:cNvSpPr/>
          <p:nvPr/>
        </p:nvSpPr>
        <p:spPr>
          <a:xfrm>
            <a:off x="8532495" y="3331920"/>
            <a:ext cx="5736312" cy="353378"/>
          </a:xfrm>
          <a:prstGeom prst="rect">
            <a:avLst/>
          </a:prstGeom>
          <a:noFill/>
          <a:ln/>
        </p:spPr>
        <p:txBody>
          <a:bodyPr wrap="none" lIns="0" tIns="0" rIns="0" bIns="0" rtlCol="0" anchor="t"/>
          <a:lstStyle/>
          <a:p>
            <a:pPr marL="0" indent="0" algn="l">
              <a:lnSpc>
                <a:spcPts val="2750"/>
              </a:lnSpc>
              <a:buNone/>
            </a:pPr>
            <a:r>
              <a:rPr lang="en-US" sz="1700" dirty="0">
                <a:solidFill>
                  <a:srgbClr val="383838"/>
                </a:solidFill>
                <a:latin typeface="Patrick Hand" pitchFamily="34" charset="0"/>
              </a:rPr>
              <a:t>C . Nagendra - 99220040253 </a:t>
            </a:r>
          </a:p>
          <a:p>
            <a:pPr marL="0" indent="0" algn="l">
              <a:lnSpc>
                <a:spcPts val="2750"/>
              </a:lnSpc>
              <a:buNone/>
            </a:pPr>
            <a:r>
              <a:rPr lang="en-US" sz="1700" dirty="0">
                <a:solidFill>
                  <a:srgbClr val="383838"/>
                </a:solidFill>
                <a:latin typeface="Patrick Hand" pitchFamily="34" charset="0"/>
              </a:rPr>
              <a:t> p . Deepthi – 99220041305</a:t>
            </a:r>
          </a:p>
          <a:p>
            <a:pPr marL="0" indent="0" algn="l">
              <a:lnSpc>
                <a:spcPts val="2750"/>
              </a:lnSpc>
              <a:buNone/>
            </a:pPr>
            <a:r>
              <a:rPr lang="en-US" sz="1700" dirty="0">
                <a:solidFill>
                  <a:srgbClr val="383838"/>
                </a:solidFill>
                <a:latin typeface="Patrick Hand" pitchFamily="34" charset="0"/>
              </a:rPr>
              <a:t>V . Naga Chaitanya - 99220041209</a:t>
            </a:r>
            <a:endParaRPr lang="en-US" sz="1700" dirty="0"/>
          </a:p>
        </p:txBody>
      </p:sp>
      <p:sp>
        <p:nvSpPr>
          <p:cNvPr id="12" name="Text 7"/>
          <p:cNvSpPr/>
          <p:nvPr/>
        </p:nvSpPr>
        <p:spPr>
          <a:xfrm>
            <a:off x="8532495" y="3817695"/>
            <a:ext cx="5736312" cy="353378"/>
          </a:xfrm>
          <a:prstGeom prst="rect">
            <a:avLst/>
          </a:prstGeom>
          <a:noFill/>
          <a:ln/>
        </p:spPr>
        <p:txBody>
          <a:bodyPr wrap="none" lIns="0" tIns="0" rIns="0" bIns="0" rtlCol="0" anchor="t"/>
          <a:lstStyle/>
          <a:p>
            <a:pPr marL="0" indent="0" algn="l">
              <a:lnSpc>
                <a:spcPts val="2750"/>
              </a:lnSpc>
              <a:buNone/>
            </a:pPr>
            <a:endParaRPr lang="en-US" sz="1700" dirty="0"/>
          </a:p>
        </p:txBody>
      </p:sp>
      <p:sp>
        <p:nvSpPr>
          <p:cNvPr id="13" name="Text 8"/>
          <p:cNvSpPr/>
          <p:nvPr/>
        </p:nvSpPr>
        <p:spPr>
          <a:xfrm>
            <a:off x="8532495" y="4303470"/>
            <a:ext cx="5736312" cy="353378"/>
          </a:xfrm>
          <a:prstGeom prst="rect">
            <a:avLst/>
          </a:prstGeom>
          <a:noFill/>
          <a:ln/>
        </p:spPr>
        <p:txBody>
          <a:bodyPr wrap="none" lIns="0" tIns="0" rIns="0" bIns="0" rtlCol="0" anchor="t"/>
          <a:lstStyle/>
          <a:p>
            <a:pPr marL="0" indent="0" algn="l">
              <a:lnSpc>
                <a:spcPts val="2750"/>
              </a:lnSpc>
              <a:buNone/>
            </a:pPr>
            <a:r>
              <a:rPr lang="en-US" sz="1700" dirty="0">
                <a:solidFill>
                  <a:srgbClr val="383838"/>
                </a:solidFill>
                <a:latin typeface="Patrick Hand" pitchFamily="34" charset="0"/>
              </a:rPr>
              <a:t>K . Vinay -99220041209</a:t>
            </a:r>
            <a:endParaRPr lang="en-US" sz="1700" dirty="0"/>
          </a:p>
        </p:txBody>
      </p:sp>
      <p:sp>
        <p:nvSpPr>
          <p:cNvPr id="14" name="Shape 9"/>
          <p:cNvSpPr/>
          <p:nvPr/>
        </p:nvSpPr>
        <p:spPr>
          <a:xfrm>
            <a:off x="8148697" y="5139145"/>
            <a:ext cx="6238756" cy="3022283"/>
          </a:xfrm>
          <a:prstGeom prst="roundRect">
            <a:avLst>
              <a:gd name="adj" fmla="val 4841"/>
            </a:avLst>
          </a:prstGeom>
          <a:solidFill>
            <a:srgbClr val="F7F7F7"/>
          </a:solidFill>
          <a:ln/>
        </p:spPr>
        <p:txBody>
          <a:bodyPr/>
          <a:lstStyle/>
          <a:p>
            <a:endParaRPr lang="en-IN" dirty="0"/>
          </a:p>
        </p:txBody>
      </p:sp>
      <p:sp>
        <p:nvSpPr>
          <p:cNvPr id="15" name="Shape 10"/>
          <p:cNvSpPr/>
          <p:nvPr/>
        </p:nvSpPr>
        <p:spPr>
          <a:xfrm>
            <a:off x="8281273" y="5168980"/>
            <a:ext cx="6238756" cy="121920"/>
          </a:xfrm>
          <a:prstGeom prst="roundRect">
            <a:avLst>
              <a:gd name="adj" fmla="val 76076"/>
            </a:avLst>
          </a:prstGeom>
          <a:solidFill>
            <a:srgbClr val="CCCCCC"/>
          </a:solidFill>
          <a:ln/>
        </p:spPr>
      </p:sp>
      <p:sp>
        <p:nvSpPr>
          <p:cNvPr id="16" name="Shape 11"/>
          <p:cNvSpPr/>
          <p:nvPr/>
        </p:nvSpPr>
        <p:spPr>
          <a:xfrm>
            <a:off x="11069360" y="4868228"/>
            <a:ext cx="662464" cy="662464"/>
          </a:xfrm>
          <a:prstGeom prst="roundRect">
            <a:avLst>
              <a:gd name="adj" fmla="val 138030"/>
            </a:avLst>
          </a:prstGeom>
          <a:solidFill>
            <a:srgbClr val="CCCCCC"/>
          </a:solidFill>
          <a:ln/>
        </p:spPr>
      </p:sp>
      <p:pic>
        <p:nvPicPr>
          <p:cNvPr id="17" name="Image 1" descr="preencoded.png"/>
          <p:cNvPicPr>
            <a:picLocks noChangeAspect="1"/>
          </p:cNvPicPr>
          <p:nvPr/>
        </p:nvPicPr>
        <p:blipFill>
          <a:blip r:embed="rId4"/>
          <a:stretch>
            <a:fillRect/>
          </a:stretch>
        </p:blipFill>
        <p:spPr>
          <a:xfrm>
            <a:off x="11268075" y="5033844"/>
            <a:ext cx="264914" cy="331232"/>
          </a:xfrm>
          <a:prstGeom prst="rect">
            <a:avLst/>
          </a:prstGeom>
        </p:spPr>
      </p:pic>
      <p:sp>
        <p:nvSpPr>
          <p:cNvPr id="18" name="Text 12"/>
          <p:cNvSpPr/>
          <p:nvPr/>
        </p:nvSpPr>
        <p:spPr>
          <a:xfrm>
            <a:off x="10296644" y="5721279"/>
            <a:ext cx="2208252" cy="275987"/>
          </a:xfrm>
          <a:prstGeom prst="rect">
            <a:avLst/>
          </a:prstGeom>
          <a:noFill/>
          <a:ln/>
        </p:spPr>
        <p:txBody>
          <a:bodyPr wrap="none" lIns="0" tIns="0" rIns="0" bIns="0" rtlCol="0" anchor="t"/>
          <a:lstStyle/>
          <a:p>
            <a:pPr marL="0" indent="0" algn="ctr">
              <a:lnSpc>
                <a:spcPts val="2150"/>
              </a:lnSpc>
              <a:buNone/>
            </a:pPr>
            <a:r>
              <a:rPr lang="en-US" sz="1700" dirty="0">
                <a:solidFill>
                  <a:srgbClr val="383838"/>
                </a:solidFill>
                <a:latin typeface="Patrick Hand" pitchFamily="34" charset="0"/>
                <a:ea typeface="Patrick Hand" pitchFamily="34" charset="-122"/>
                <a:cs typeface="Patrick Hand" pitchFamily="34" charset="-120"/>
              </a:rPr>
              <a:t>Guide</a:t>
            </a:r>
            <a:endParaRPr lang="en-US" sz="1700" dirty="0"/>
          </a:p>
        </p:txBody>
      </p:sp>
      <p:sp>
        <p:nvSpPr>
          <p:cNvPr id="19" name="Text 13"/>
          <p:cNvSpPr/>
          <p:nvPr/>
        </p:nvSpPr>
        <p:spPr>
          <a:xfrm>
            <a:off x="8532495" y="6579704"/>
            <a:ext cx="5736312" cy="1013792"/>
          </a:xfrm>
          <a:prstGeom prst="rect">
            <a:avLst/>
          </a:prstGeom>
          <a:noFill/>
          <a:ln/>
        </p:spPr>
        <p:txBody>
          <a:bodyPr wrap="none" lIns="0" tIns="0" rIns="0" bIns="0" rtlCol="0" anchor="t"/>
          <a:lstStyle/>
          <a:p>
            <a:r>
              <a:rPr lang="en-IN" dirty="0">
                <a:solidFill>
                  <a:schemeClr val="bg2">
                    <a:lumMod val="50000"/>
                  </a:schemeClr>
                </a:solidFill>
              </a:rPr>
              <a:t>Dr. M.K. Nagarajan</a:t>
            </a:r>
          </a:p>
          <a:p>
            <a:r>
              <a:rPr lang="en-US" sz="1600" dirty="0">
                <a:solidFill>
                  <a:schemeClr val="bg2">
                    <a:lumMod val="50000"/>
                  </a:schemeClr>
                </a:solidFill>
              </a:rPr>
              <a:t>Computer Science and engineering</a:t>
            </a:r>
          </a:p>
          <a:p>
            <a:r>
              <a:rPr lang="en-US" dirty="0">
                <a:solidFill>
                  <a:schemeClr val="bg2">
                    <a:lumMod val="50000"/>
                  </a:schemeClr>
                </a:solidFill>
              </a:rPr>
              <a:t>Kalasalingam academy of research  and education</a:t>
            </a:r>
            <a:endParaRPr lang="en-US" sz="1600" dirty="0">
              <a:solidFill>
                <a:schemeClr val="bg2">
                  <a:lumMod val="50000"/>
                </a:schemeClr>
              </a:solidFill>
            </a:endParaRPr>
          </a:p>
          <a:p>
            <a:br>
              <a:rPr lang="en-US" sz="1600" dirty="0">
                <a:solidFill>
                  <a:schemeClr val="bg2">
                    <a:lumMod val="50000"/>
                  </a:schemeClr>
                </a:solidFill>
              </a:rPr>
            </a:br>
            <a:endParaRPr lang="en-US" sz="1700" dirty="0">
              <a:solidFill>
                <a:schemeClr val="bg2">
                  <a:lumMod val="50000"/>
                </a:schemeClr>
              </a:solidFill>
            </a:endParaRPr>
          </a:p>
        </p:txBody>
      </p:sp>
      <p:sp>
        <p:nvSpPr>
          <p:cNvPr id="23" name="Text 18"/>
          <p:cNvSpPr/>
          <p:nvPr/>
        </p:nvSpPr>
        <p:spPr>
          <a:xfrm>
            <a:off x="8532495" y="6102567"/>
            <a:ext cx="5736312" cy="784723"/>
          </a:xfrm>
          <a:prstGeom prst="rect">
            <a:avLst/>
          </a:prstGeom>
          <a:noFill/>
          <a:ln/>
        </p:spPr>
        <p:txBody>
          <a:bodyPr wrap="none" lIns="0" tIns="0" rIns="0" bIns="0" rtlCol="0" anchor="t"/>
          <a:lstStyle/>
          <a:p>
            <a:pPr marL="0" indent="0" algn="l">
              <a:lnSpc>
                <a:spcPts val="2750"/>
              </a:lnSpc>
              <a:buNone/>
            </a:pPr>
            <a:endParaRPr lang="en-US" sz="1700" dirty="0"/>
          </a:p>
        </p:txBody>
      </p:sp>
      <p:sp>
        <p:nvSpPr>
          <p:cNvPr id="4" name="TextBox 3">
            <a:extLst>
              <a:ext uri="{FF2B5EF4-FFF2-40B4-BE49-F238E27FC236}">
                <a16:creationId xmlns:a16="http://schemas.microsoft.com/office/drawing/2014/main" id="{2CCB9C12-4088-D8CB-DF31-C459F93393F0}"/>
              </a:ext>
            </a:extLst>
          </p:cNvPr>
          <p:cNvSpPr txBox="1"/>
          <p:nvPr/>
        </p:nvSpPr>
        <p:spPr>
          <a:xfrm>
            <a:off x="2898576" y="5033844"/>
            <a:ext cx="842151" cy="461665"/>
          </a:xfrm>
          <a:prstGeom prst="rect">
            <a:avLst/>
          </a:prstGeom>
          <a:noFill/>
        </p:spPr>
        <p:txBody>
          <a:bodyPr wrap="square" rtlCol="0">
            <a:spAutoFit/>
          </a:bodyPr>
          <a:lstStyle/>
          <a:p>
            <a:r>
              <a:rPr lang="en-IN" sz="2400" dirty="0">
                <a:solidFill>
                  <a:srgbClr val="00B0F0"/>
                </a:solidFill>
                <a:highlight>
                  <a:srgbClr val="FFFF00"/>
                </a:highlight>
              </a:rPr>
              <a:t>Hello </a:t>
            </a:r>
          </a:p>
        </p:txBody>
      </p:sp>
      <p:pic>
        <p:nvPicPr>
          <p:cNvPr id="20" name="Picture 19">
            <a:extLst>
              <a:ext uri="{FF2B5EF4-FFF2-40B4-BE49-F238E27FC236}">
                <a16:creationId xmlns:a16="http://schemas.microsoft.com/office/drawing/2014/main" id="{3787263D-90A2-2492-D3CD-D95B3AC98BC0}"/>
              </a:ext>
            </a:extLst>
          </p:cNvPr>
          <p:cNvPicPr>
            <a:picLocks noChangeAspect="1"/>
          </p:cNvPicPr>
          <p:nvPr/>
        </p:nvPicPr>
        <p:blipFill>
          <a:blip r:embed="rId5"/>
          <a:stretch>
            <a:fillRect/>
          </a:stretch>
        </p:blipFill>
        <p:spPr>
          <a:xfrm>
            <a:off x="0" y="78059"/>
            <a:ext cx="7604023" cy="81436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2B53C1-733C-D606-1003-3A85154EDCF0}"/>
              </a:ext>
            </a:extLst>
          </p:cNvPr>
          <p:cNvSpPr txBox="1"/>
          <p:nvPr/>
        </p:nvSpPr>
        <p:spPr>
          <a:xfrm>
            <a:off x="778934" y="492667"/>
            <a:ext cx="6660445" cy="646331"/>
          </a:xfrm>
          <a:prstGeom prst="rect">
            <a:avLst/>
          </a:prstGeom>
          <a:noFill/>
        </p:spPr>
        <p:txBody>
          <a:bodyPr wrap="square" rtlCol="0">
            <a:spAutoFit/>
          </a:bodyPr>
          <a:lstStyle/>
          <a:p>
            <a:r>
              <a:rPr lang="en-US" sz="3600" b="1" dirty="0"/>
              <a:t>ABSTRACT</a:t>
            </a:r>
            <a:endParaRPr lang="en-IN" sz="3600" b="1" dirty="0"/>
          </a:p>
        </p:txBody>
      </p:sp>
      <p:sp>
        <p:nvSpPr>
          <p:cNvPr id="3" name="TextBox 2">
            <a:extLst>
              <a:ext uri="{FF2B5EF4-FFF2-40B4-BE49-F238E27FC236}">
                <a16:creationId xmlns:a16="http://schemas.microsoft.com/office/drawing/2014/main" id="{93476842-E4AF-9867-B787-49BE4EC1C431}"/>
              </a:ext>
            </a:extLst>
          </p:cNvPr>
          <p:cNvSpPr txBox="1"/>
          <p:nvPr/>
        </p:nvSpPr>
        <p:spPr>
          <a:xfrm>
            <a:off x="2504660" y="1693332"/>
            <a:ext cx="10048461" cy="3693319"/>
          </a:xfrm>
          <a:prstGeom prst="rect">
            <a:avLst/>
          </a:prstGeom>
          <a:noFill/>
        </p:spPr>
        <p:txBody>
          <a:bodyPr wrap="square" rtlCol="0">
            <a:spAutoFit/>
          </a:bodyPr>
          <a:lstStyle/>
          <a:p>
            <a:pPr algn="just"/>
            <a:r>
              <a:rPr lang="en-US" dirty="0"/>
              <a:t>Large education institutions tend to face navigation problems with students, faculties, and even visitors. Physical maps and signboards are commonly shown to be grossly inadequate within such dynamically growing campuses. This work proposes an Optimized App-Based Routing and Campus Navigation System that can enable the student, as well as the faculty and visitor, in finding real-time route guidance, information about their classrooms, lost-and-found tracking, events happening on campus, and feedback management. The system is developed using a cross-platform support tool called Flutter, while Google Maps API is used for routing; the backend is Firebase for storage and authentication. The routing mechanism applies graph-based pathfinding to compute optimal and shortest routes between locations on campus. Improving, in other words, accessibility or redundancy is beneficial when it comes to having better users' experience through confusion mitigation and leverage towards a smart digital ecosystem for mobility on campus.</a:t>
            </a:r>
            <a:endParaRPr lang="en-IN" sz="2400" dirty="0"/>
          </a:p>
        </p:txBody>
      </p:sp>
    </p:spTree>
    <p:extLst>
      <p:ext uri="{BB962C8B-B14F-4D97-AF65-F5344CB8AC3E}">
        <p14:creationId xmlns:p14="http://schemas.microsoft.com/office/powerpoint/2010/main" val="1357403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11937D-AB2B-CA3D-E859-3870C18DD9BA}"/>
              </a:ext>
            </a:extLst>
          </p:cNvPr>
          <p:cNvSpPr txBox="1"/>
          <p:nvPr/>
        </p:nvSpPr>
        <p:spPr>
          <a:xfrm>
            <a:off x="699911" y="564444"/>
            <a:ext cx="3544711" cy="646331"/>
          </a:xfrm>
          <a:prstGeom prst="rect">
            <a:avLst/>
          </a:prstGeom>
          <a:noFill/>
        </p:spPr>
        <p:txBody>
          <a:bodyPr wrap="square" rtlCol="0">
            <a:spAutoFit/>
          </a:bodyPr>
          <a:lstStyle/>
          <a:p>
            <a:r>
              <a:rPr lang="en-US" sz="3600" b="1" dirty="0"/>
              <a:t>INTRODUCTION</a:t>
            </a:r>
            <a:endParaRPr lang="en-IN" sz="3600" b="1" dirty="0"/>
          </a:p>
        </p:txBody>
      </p:sp>
      <p:sp>
        <p:nvSpPr>
          <p:cNvPr id="3" name="TextBox 2">
            <a:extLst>
              <a:ext uri="{FF2B5EF4-FFF2-40B4-BE49-F238E27FC236}">
                <a16:creationId xmlns:a16="http://schemas.microsoft.com/office/drawing/2014/main" id="{5BCC67D1-F098-7B5A-5FB3-6DE3AA726F5F}"/>
              </a:ext>
            </a:extLst>
          </p:cNvPr>
          <p:cNvSpPr txBox="1"/>
          <p:nvPr/>
        </p:nvSpPr>
        <p:spPr>
          <a:xfrm>
            <a:off x="699911" y="1682044"/>
            <a:ext cx="13162845" cy="5940088"/>
          </a:xfrm>
          <a:prstGeom prst="rect">
            <a:avLst/>
          </a:prstGeom>
          <a:noFill/>
        </p:spPr>
        <p:txBody>
          <a:bodyPr wrap="square" rtlCol="0">
            <a:spAutoFit/>
          </a:bodyPr>
          <a:lstStyle/>
          <a:p>
            <a:pPr algn="just"/>
            <a:r>
              <a:rPr lang="en-US" sz="2000" dirty="0"/>
              <a:t>The rapid growth of large educational institutions has transformed university campuses into miniature cities that include academic buildings, administrative offices, laboratories, hostels, recreational centers, and service facilities spread across vast geographical areas. Navigating these complex environments presents significant challenges for students, faculty members, new entrants, and visitors. Traditional navigation methods such as printed maps, static signboards, and verbal guidance are time-consuming and often ineffective in dynamic campus environments. Difficulties in locating lecture halls, departmental offices, and essential service centers result in wasted time and reduced productivity. In addition, crucial campus services such as lost-and-found management, event announcements, and feedback systems typically operate in isolated platforms, leading to fragmented information and limited user engagement. To address these challenges, this research proposes the development of an Optimized App-Based Routing and Campus Navigation System that integrates multiple campus services into a unified digital platform. The system is developed using Flutter for cross-platform compatibility, Google Maps API for real-time mapping and navigation, and Firebase for secure data storage and user authentication. It incorporates graph-based routing algorithms to generate optimized paths within the campus environment. The proposed solution also supports faculty information retrieval, lost-and-found management, event announcements, and direct feedback submission, thereby enabling smarter campus interactions and contributing to the digital transformation of modern higher education institutions.</a:t>
            </a:r>
          </a:p>
          <a:p>
            <a:pPr algn="just"/>
            <a:endParaRPr lang="en-IN" sz="2000" dirty="0"/>
          </a:p>
        </p:txBody>
      </p:sp>
    </p:spTree>
    <p:extLst>
      <p:ext uri="{BB962C8B-B14F-4D97-AF65-F5344CB8AC3E}">
        <p14:creationId xmlns:p14="http://schemas.microsoft.com/office/powerpoint/2010/main" val="3166925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3A90AE-9885-1A2C-1B7A-429EE476BB57}"/>
              </a:ext>
            </a:extLst>
          </p:cNvPr>
          <p:cNvSpPr txBox="1"/>
          <p:nvPr/>
        </p:nvSpPr>
        <p:spPr>
          <a:xfrm>
            <a:off x="467139" y="357809"/>
            <a:ext cx="7424530" cy="646331"/>
          </a:xfrm>
          <a:prstGeom prst="rect">
            <a:avLst/>
          </a:prstGeom>
          <a:noFill/>
        </p:spPr>
        <p:txBody>
          <a:bodyPr wrap="square">
            <a:spAutoFit/>
          </a:bodyPr>
          <a:lstStyle/>
          <a:p>
            <a:pPr rtl="0">
              <a:buNone/>
            </a:pPr>
            <a:r>
              <a:rPr lang="en-US" sz="1800" b="1" i="0" u="none" strike="noStrike" dirty="0">
                <a:effectLst/>
                <a:latin typeface="Calibri" panose="020F0502020204030204" pitchFamily="34" charset="0"/>
              </a:rPr>
              <a:t>EXISTING SYSTEM vs PROPOSED WORK IMPLEMENTATION:</a:t>
            </a:r>
            <a:endParaRPr lang="en-US" b="0" dirty="0">
              <a:effectLst/>
            </a:endParaRPr>
          </a:p>
          <a:p>
            <a:pPr>
              <a:buNone/>
            </a:pPr>
            <a:endParaRPr lang="en-IN" dirty="0"/>
          </a:p>
        </p:txBody>
      </p:sp>
      <p:sp>
        <p:nvSpPr>
          <p:cNvPr id="4" name="TextBox 3">
            <a:extLst>
              <a:ext uri="{FF2B5EF4-FFF2-40B4-BE49-F238E27FC236}">
                <a16:creationId xmlns:a16="http://schemas.microsoft.com/office/drawing/2014/main" id="{4778C2F3-9AA1-0C37-21CF-0F8C2DAB458D}"/>
              </a:ext>
            </a:extLst>
          </p:cNvPr>
          <p:cNvSpPr txBox="1"/>
          <p:nvPr/>
        </p:nvSpPr>
        <p:spPr>
          <a:xfrm>
            <a:off x="467139" y="874643"/>
            <a:ext cx="11936896" cy="6463308"/>
          </a:xfrm>
          <a:prstGeom prst="rect">
            <a:avLst/>
          </a:prstGeom>
          <a:noFill/>
        </p:spPr>
        <p:txBody>
          <a:bodyPr wrap="square" rtlCol="0">
            <a:spAutoFit/>
          </a:bodyPr>
          <a:lstStyle/>
          <a:p>
            <a:r>
              <a:rPr lang="en-US" b="1" dirty="0"/>
              <a:t>EXISTING SYSTEM:</a:t>
            </a:r>
          </a:p>
          <a:p>
            <a:endParaRPr lang="en-US" dirty="0"/>
          </a:p>
          <a:p>
            <a:r>
              <a:rPr lang="en-US" dirty="0"/>
              <a:t>• Uses printed maps, signboards, and manual directions</a:t>
            </a:r>
            <a:br>
              <a:rPr lang="en-US" dirty="0"/>
            </a:br>
            <a:r>
              <a:rPr lang="en-US" dirty="0"/>
              <a:t>• Depends on physical notice boards for announcements</a:t>
            </a:r>
            <a:br>
              <a:rPr lang="en-US" dirty="0"/>
            </a:br>
            <a:r>
              <a:rPr lang="en-US" dirty="0"/>
              <a:t>• Separate systems for faculty information and events</a:t>
            </a:r>
            <a:br>
              <a:rPr lang="en-US" dirty="0"/>
            </a:br>
            <a:r>
              <a:rPr lang="en-US" dirty="0"/>
              <a:t>• Manual lost-and-found process</a:t>
            </a:r>
            <a:br>
              <a:rPr lang="en-US" dirty="0"/>
            </a:br>
            <a:r>
              <a:rPr lang="en-US" dirty="0"/>
              <a:t>• Feedback collected using paper or informal methods</a:t>
            </a:r>
            <a:br>
              <a:rPr lang="en-US" dirty="0"/>
            </a:br>
            <a:r>
              <a:rPr lang="en-US" dirty="0"/>
              <a:t>• No real-time navigation support</a:t>
            </a:r>
            <a:br>
              <a:rPr lang="en-US" dirty="0"/>
            </a:br>
            <a:r>
              <a:rPr lang="en-US" dirty="0"/>
              <a:t>• No centralized digital information system</a:t>
            </a:r>
            <a:br>
              <a:rPr lang="en-US" dirty="0"/>
            </a:br>
            <a:r>
              <a:rPr lang="en-US" dirty="0"/>
              <a:t>• Time-consuming and inefficient processes</a:t>
            </a:r>
          </a:p>
          <a:p>
            <a:endParaRPr lang="en-US" dirty="0"/>
          </a:p>
          <a:p>
            <a:r>
              <a:rPr lang="en-US" b="1" dirty="0"/>
              <a:t>PROPOSED SYSTEM:</a:t>
            </a:r>
          </a:p>
          <a:p>
            <a:endParaRPr lang="en-US" b="1" dirty="0"/>
          </a:p>
          <a:p>
            <a:pPr marL="285750" indent="-285750">
              <a:buFont typeface="Wingdings" panose="05000000000000000000" pitchFamily="2" charset="2"/>
              <a:buChar char="Ø"/>
            </a:pPr>
            <a:r>
              <a:rPr lang="en-US" dirty="0"/>
              <a:t>Mobile app-based campus navigation system</a:t>
            </a:r>
            <a:br>
              <a:rPr lang="en-US" dirty="0"/>
            </a:br>
            <a:r>
              <a:rPr lang="en-US" dirty="0"/>
              <a:t>• Real-time GPS tracking and route optimization</a:t>
            </a:r>
            <a:br>
              <a:rPr lang="en-US" dirty="0"/>
            </a:br>
            <a:r>
              <a:rPr lang="en-US" dirty="0"/>
              <a:t>• Centralized digital platform for all campus services</a:t>
            </a:r>
            <a:br>
              <a:rPr lang="en-US" dirty="0"/>
            </a:br>
            <a:r>
              <a:rPr lang="en-US" dirty="0"/>
              <a:t>• Searchable faculty directory</a:t>
            </a:r>
            <a:br>
              <a:rPr lang="en-US" dirty="0"/>
            </a:br>
            <a:r>
              <a:rPr lang="en-US" dirty="0"/>
              <a:t>• Automated lost-and-found system with image support</a:t>
            </a:r>
            <a:br>
              <a:rPr lang="en-US" dirty="0"/>
            </a:br>
            <a:r>
              <a:rPr lang="en-US" dirty="0"/>
              <a:t>• Real-time event notifications and updates</a:t>
            </a:r>
            <a:br>
              <a:rPr lang="en-US" dirty="0"/>
            </a:br>
            <a:r>
              <a:rPr lang="en-US" dirty="0"/>
              <a:t>• Digital feedback submission system</a:t>
            </a:r>
            <a:br>
              <a:rPr lang="en-US" dirty="0"/>
            </a:br>
            <a:r>
              <a:rPr lang="en-US" dirty="0"/>
              <a:t>• Secure user authentication and login</a:t>
            </a:r>
            <a:br>
              <a:rPr lang="en-US" dirty="0"/>
            </a:br>
            <a:r>
              <a:rPr lang="en-US" dirty="0"/>
              <a:t>• Cross-platform support using Flutter</a:t>
            </a:r>
            <a:br>
              <a:rPr lang="en-US" dirty="0"/>
            </a:br>
            <a:r>
              <a:rPr lang="en-US" dirty="0"/>
              <a:t>• Cloud-based data storage using Firebase</a:t>
            </a:r>
            <a:endParaRPr lang="en-IN" b="1" dirty="0"/>
          </a:p>
        </p:txBody>
      </p:sp>
    </p:spTree>
    <p:extLst>
      <p:ext uri="{BB962C8B-B14F-4D97-AF65-F5344CB8AC3E}">
        <p14:creationId xmlns:p14="http://schemas.microsoft.com/office/powerpoint/2010/main" val="196362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965240" y="758309"/>
            <a:ext cx="4412575" cy="551498"/>
          </a:xfrm>
          <a:prstGeom prst="rect">
            <a:avLst/>
          </a:prstGeom>
          <a:noFill/>
          <a:ln/>
        </p:spPr>
        <p:txBody>
          <a:bodyPr wrap="none" lIns="0" tIns="0" rIns="0" bIns="0" rtlCol="0" anchor="t"/>
          <a:lstStyle/>
          <a:p>
            <a:pPr marL="0" indent="0" algn="l">
              <a:lnSpc>
                <a:spcPts val="4300"/>
              </a:lnSpc>
              <a:buNone/>
            </a:pPr>
            <a:r>
              <a:rPr lang="en-US" sz="3450" dirty="0">
                <a:latin typeface="Patrick Hand" pitchFamily="34" charset="0"/>
                <a:ea typeface="Patrick Hand" pitchFamily="34" charset="-122"/>
                <a:cs typeface="Patrick Hand" pitchFamily="34" charset="-120"/>
              </a:rPr>
              <a:t>Problem Statement</a:t>
            </a:r>
            <a:endParaRPr lang="en-US" sz="3450" dirty="0"/>
          </a:p>
        </p:txBody>
      </p:sp>
      <p:sp>
        <p:nvSpPr>
          <p:cNvPr id="14" name="Shape 9"/>
          <p:cNvSpPr/>
          <p:nvPr/>
        </p:nvSpPr>
        <p:spPr>
          <a:xfrm>
            <a:off x="822245" y="1448420"/>
            <a:ext cx="7213521" cy="5744090"/>
          </a:xfrm>
          <a:prstGeom prst="roundRect">
            <a:avLst>
              <a:gd name="adj" fmla="val 4853"/>
            </a:avLst>
          </a:prstGeom>
          <a:solidFill>
            <a:srgbClr val="E6E6E6"/>
          </a:solidFill>
          <a:ln w="7620">
            <a:solidFill>
              <a:srgbClr val="CCCCCC"/>
            </a:solidFill>
            <a:prstDash val="solid"/>
          </a:ln>
        </p:spPr>
      </p:sp>
      <p:sp>
        <p:nvSpPr>
          <p:cNvPr id="18" name="Text 12"/>
          <p:cNvSpPr/>
          <p:nvPr/>
        </p:nvSpPr>
        <p:spPr>
          <a:xfrm>
            <a:off x="965240" y="1727201"/>
            <a:ext cx="6985277" cy="3926467"/>
          </a:xfrm>
          <a:prstGeom prst="rect">
            <a:avLst/>
          </a:prstGeom>
          <a:noFill/>
          <a:ln/>
        </p:spPr>
        <p:txBody>
          <a:bodyPr wrap="square" lIns="0" tIns="0" rIns="0" bIns="0" rtlCol="0" anchor="t"/>
          <a:lstStyle/>
          <a:p>
            <a:r>
              <a:rPr lang="en-US" sz="1600" dirty="0">
                <a:solidFill>
                  <a:schemeClr val="bg1">
                    <a:lumMod val="95000"/>
                    <a:lumOff val="5000"/>
                  </a:schemeClr>
                </a:solidFill>
              </a:rPr>
              <a:t>Large university campuses are increasingly complex, making it difficult for students, staff, and visitors to locate buildings, departments, classrooms, and essential service centers efficiently. Existing navigation methods such as printed maps, static signboards, and manual assistance are outdated, time-consuming, and often inaccurate in real-time scenarios. Important campus services like faculty information access, event notifications, lost-and-found management, and feedback collection are typically handled through separate and disconnected systems, resulting in poor communication and limited accessibility. The absence of an integrated digital platform leads to confusion, wasted time, reduced productivity, and poor user experience. Therefore, there is a strong need for an optimized, centralized, app-based routing and information management system that can provide real-time navigation, unified access to campus services, and accurate information to improve efficiency and user satisfaction within large educational institutions.</a:t>
            </a:r>
            <a:endParaRPr lang="en-IN" sz="1600" dirty="0">
              <a:solidFill>
                <a:schemeClr val="bg1">
                  <a:lumMod val="95000"/>
                  <a:lumOff val="5000"/>
                </a:schemeClr>
              </a:solidFill>
            </a:endParaRPr>
          </a:p>
        </p:txBody>
      </p:sp>
      <p:sp>
        <p:nvSpPr>
          <p:cNvPr id="5" name="AutoShape 2" descr="End-to-End Delivery Route Optimization: A Complete Guide">
            <a:extLst>
              <a:ext uri="{FF2B5EF4-FFF2-40B4-BE49-F238E27FC236}">
                <a16:creationId xmlns:a16="http://schemas.microsoft.com/office/drawing/2014/main" id="{F28D9A07-4DD0-A7E9-EA4A-9F03B26FA9C4}"/>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8B1C794F-837A-792B-03E0-E81B25DDC9C0}"/>
              </a:ext>
            </a:extLst>
          </p:cNvPr>
          <p:cNvPicPr>
            <a:picLocks noChangeAspect="1"/>
          </p:cNvPicPr>
          <p:nvPr/>
        </p:nvPicPr>
        <p:blipFill>
          <a:blip r:embed="rId3"/>
          <a:stretch>
            <a:fillRect/>
          </a:stretch>
        </p:blipFill>
        <p:spPr>
          <a:xfrm>
            <a:off x="8093512" y="948266"/>
            <a:ext cx="6435288" cy="687493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422974" y="41591"/>
            <a:ext cx="8674008" cy="621030"/>
          </a:xfrm>
          <a:prstGeom prst="rect">
            <a:avLst/>
          </a:prstGeom>
          <a:noFill/>
          <a:ln/>
        </p:spPr>
        <p:txBody>
          <a:bodyPr wrap="none" lIns="0" tIns="0" rIns="0" bIns="0" rtlCol="0" anchor="t"/>
          <a:lstStyle/>
          <a:p>
            <a:pPr marL="0" indent="0" algn="l">
              <a:lnSpc>
                <a:spcPts val="4850"/>
              </a:lnSpc>
              <a:buNone/>
            </a:pPr>
            <a:r>
              <a:rPr lang="en-US" sz="3900" dirty="0">
                <a:latin typeface="Patrick Hand" pitchFamily="34" charset="0"/>
                <a:ea typeface="Patrick Hand" pitchFamily="34" charset="-122"/>
                <a:cs typeface="Patrick Hand" pitchFamily="34" charset="-120"/>
              </a:rPr>
              <a:t>Literature Survey</a:t>
            </a:r>
            <a:endParaRPr lang="en-US" sz="3900" dirty="0"/>
          </a:p>
        </p:txBody>
      </p:sp>
      <p:sp>
        <p:nvSpPr>
          <p:cNvPr id="12" name="Rectangle 11">
            <a:extLst>
              <a:ext uri="{FF2B5EF4-FFF2-40B4-BE49-F238E27FC236}">
                <a16:creationId xmlns:a16="http://schemas.microsoft.com/office/drawing/2014/main" id="{EA08BF89-2102-D853-EE46-BB38C7202590}"/>
              </a:ext>
            </a:extLst>
          </p:cNvPr>
          <p:cNvSpPr/>
          <p:nvPr/>
        </p:nvSpPr>
        <p:spPr>
          <a:xfrm>
            <a:off x="12593782" y="7658100"/>
            <a:ext cx="1932709" cy="488373"/>
          </a:xfrm>
          <a:prstGeom prst="rect">
            <a:avLst/>
          </a:prstGeom>
          <a:solidFill>
            <a:srgbClr val="F7F7F7"/>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6" name="Table 15">
            <a:extLst>
              <a:ext uri="{FF2B5EF4-FFF2-40B4-BE49-F238E27FC236}">
                <a16:creationId xmlns:a16="http://schemas.microsoft.com/office/drawing/2014/main" id="{EBE92471-353D-A6A8-351D-FB6AB020EFB9}"/>
              </a:ext>
            </a:extLst>
          </p:cNvPr>
          <p:cNvGraphicFramePr>
            <a:graphicFrameLocks noGrp="1"/>
          </p:cNvGraphicFramePr>
          <p:nvPr>
            <p:extLst>
              <p:ext uri="{D42A27DB-BD31-4B8C-83A1-F6EECF244321}">
                <p14:modId xmlns:p14="http://schemas.microsoft.com/office/powerpoint/2010/main" val="3675861533"/>
              </p:ext>
            </p:extLst>
          </p:nvPr>
        </p:nvGraphicFramePr>
        <p:xfrm>
          <a:off x="103909" y="693066"/>
          <a:ext cx="13548976" cy="7491120"/>
        </p:xfrm>
        <a:graphic>
          <a:graphicData uri="http://schemas.openxmlformats.org/drawingml/2006/table">
            <a:tbl>
              <a:tblPr/>
              <a:tblGrid>
                <a:gridCol w="536545">
                  <a:extLst>
                    <a:ext uri="{9D8B030D-6E8A-4147-A177-3AD203B41FA5}">
                      <a16:colId xmlns:a16="http://schemas.microsoft.com/office/drawing/2014/main" val="1902301446"/>
                    </a:ext>
                  </a:extLst>
                </a:gridCol>
                <a:gridCol w="4377503">
                  <a:extLst>
                    <a:ext uri="{9D8B030D-6E8A-4147-A177-3AD203B41FA5}">
                      <a16:colId xmlns:a16="http://schemas.microsoft.com/office/drawing/2014/main" val="4241614924"/>
                    </a:ext>
                  </a:extLst>
                </a:gridCol>
                <a:gridCol w="3181060">
                  <a:extLst>
                    <a:ext uri="{9D8B030D-6E8A-4147-A177-3AD203B41FA5}">
                      <a16:colId xmlns:a16="http://schemas.microsoft.com/office/drawing/2014/main" val="44372671"/>
                    </a:ext>
                  </a:extLst>
                </a:gridCol>
                <a:gridCol w="2726934">
                  <a:extLst>
                    <a:ext uri="{9D8B030D-6E8A-4147-A177-3AD203B41FA5}">
                      <a16:colId xmlns:a16="http://schemas.microsoft.com/office/drawing/2014/main" val="2897222740"/>
                    </a:ext>
                  </a:extLst>
                </a:gridCol>
                <a:gridCol w="2726934">
                  <a:extLst>
                    <a:ext uri="{9D8B030D-6E8A-4147-A177-3AD203B41FA5}">
                      <a16:colId xmlns:a16="http://schemas.microsoft.com/office/drawing/2014/main" val="1459101849"/>
                    </a:ext>
                  </a:extLst>
                </a:gridCol>
              </a:tblGrid>
              <a:tr h="326449">
                <a:tc>
                  <a:txBody>
                    <a:bodyPr/>
                    <a:lstStyle/>
                    <a:p>
                      <a:pPr>
                        <a:buNone/>
                      </a:pPr>
                      <a:r>
                        <a:rPr lang="en-IN" sz="1800" b="1"/>
                        <a:t>S.N</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IN" sz="1800" b="1" dirty="0"/>
                        <a:t>Title of Paper</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IN" sz="1800" b="1" dirty="0"/>
                        <a:t>Description</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IN" sz="1800" b="1"/>
                        <a:t>Merits</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IN" sz="1800" b="1" dirty="0"/>
                        <a:t>Demerits</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784274802"/>
                  </a:ext>
                </a:extLst>
              </a:tr>
              <a:tr h="1070954">
                <a:tc>
                  <a:txBody>
                    <a:bodyPr/>
                    <a:lstStyle/>
                    <a:p>
                      <a:pPr>
                        <a:buNone/>
                      </a:pPr>
                      <a:r>
                        <a:rPr lang="en-IN" sz="1800"/>
                        <a:t>1</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M. Sangeetha et al.</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Developed a Google Maps–assisted campus navigation system with building markers.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Helps   users identify block locations easily and supports GPS mapping.</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Does not support optimized routing or multi-service integration.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9680559"/>
                  </a:ext>
                </a:extLst>
              </a:tr>
              <a:tr h="879158">
                <a:tc>
                  <a:txBody>
                    <a:bodyPr/>
                    <a:lstStyle/>
                    <a:p>
                      <a:pPr>
                        <a:buNone/>
                      </a:pPr>
                      <a:r>
                        <a:rPr lang="en-IN" sz="1800"/>
                        <a:t>2</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 Prakash et al</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Proposed hybrid GPS and QR-based indoor/outdoor navigation.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Improves indoor accuracy where GPS signal is weak.</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Requires manual QR scanning, reducing usability.</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3382191"/>
                  </a:ext>
                </a:extLst>
              </a:tr>
              <a:tr h="879158">
                <a:tc>
                  <a:txBody>
                    <a:bodyPr/>
                    <a:lstStyle/>
                    <a:p>
                      <a:pPr>
                        <a:buNone/>
                      </a:pPr>
                      <a:r>
                        <a:rPr lang="en-IN" sz="1800"/>
                        <a:t>3</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N. Fathima et al.</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Created a Flutter-based smart locator system with Firebase backend.</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Cross-platform compatibility and real-time data storage.</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Lacks shortest path generation and dynamic routing capabilities.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8619739"/>
                  </a:ext>
                </a:extLst>
              </a:tr>
              <a:tr h="879158">
                <a:tc>
                  <a:txBody>
                    <a:bodyPr/>
                    <a:lstStyle/>
                    <a:p>
                      <a:pPr>
                        <a:buNone/>
                      </a:pPr>
                      <a:r>
                        <a:rPr lang="en-IN" sz="1800"/>
                        <a:t>4</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C. Lakshmi et al.</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Implemented indoor navigation using BLE beacons.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Accurate micro-location tracking in enclosed spaces.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Expensive deployment and frequent calibration required.</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8401654"/>
                  </a:ext>
                </a:extLst>
              </a:tr>
              <a:tr h="879158">
                <a:tc>
                  <a:txBody>
                    <a:bodyPr/>
                    <a:lstStyle/>
                    <a:p>
                      <a:pPr>
                        <a:buNone/>
                      </a:pPr>
                      <a:r>
                        <a:rPr lang="en-IN" sz="1800"/>
                        <a:t>5</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V. Ramakrishnan et al.</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Designed GIS-based map visualization for universities.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Supports precise spatial representation of campus layouts.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Not available as a dynamic or mobile-based system.</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0467134"/>
                  </a:ext>
                </a:extLst>
              </a:tr>
              <a:tr h="879158">
                <a:tc>
                  <a:txBody>
                    <a:bodyPr/>
                    <a:lstStyle/>
                    <a:p>
                      <a:pPr>
                        <a:buNone/>
                      </a:pPr>
                      <a:r>
                        <a:rPr lang="en-IN" sz="1800"/>
                        <a:t>6</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7305" marR="0" algn="just">
                        <a:lnSpc>
                          <a:spcPct val="115000"/>
                        </a:lnSpc>
                        <a:buNone/>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R. Bakshi et al.</a:t>
                      </a:r>
                    </a:p>
                  </a:txBody>
                  <a:tcPr marL="9525" marR="9525" marT="9525" marB="95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Implemented shortest path algorithms (Dijkstra/A*) for campus layout routing.</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Ensures precise and optimized route computation</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Not integrated with live map frameworks or mobile applications.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4898185"/>
                  </a:ext>
                </a:extLst>
              </a:tr>
              <a:tr h="657559">
                <a:tc>
                  <a:txBody>
                    <a:bodyPr/>
                    <a:lstStyle/>
                    <a:p>
                      <a:pPr>
                        <a:buNone/>
                      </a:pPr>
                      <a:r>
                        <a:rPr lang="en-IN" sz="1800"/>
                        <a:t>7</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K. Srinivas et al.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Built a student-assistance mobile application for academic resources and communication.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Useful for campus information access.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No mapping or navigation component included</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8538183"/>
                  </a:ext>
                </a:extLst>
              </a:tr>
              <a:tr h="879158">
                <a:tc>
                  <a:txBody>
                    <a:bodyPr/>
                    <a:lstStyle/>
                    <a:p>
                      <a:pPr>
                        <a:buNone/>
                      </a:pPr>
                      <a:r>
                        <a:rPr lang="en-IN" sz="1800" dirty="0"/>
                        <a:t>8</a:t>
                      </a:r>
                    </a:p>
                  </a:txBody>
                  <a:tcPr marL="49727" marR="49727" marT="24863" marB="24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S. Aravind et al.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Developed a multi-functional campus app with events, lost-and-found, and faculty search.</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Provides multiple services under one platform.</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Missing route optimization for physical navigation</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473277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5106888" y="444017"/>
            <a:ext cx="4416623" cy="552093"/>
          </a:xfrm>
          <a:prstGeom prst="rect">
            <a:avLst/>
          </a:prstGeom>
          <a:noFill/>
          <a:ln/>
        </p:spPr>
        <p:txBody>
          <a:bodyPr wrap="none" lIns="0" tIns="0" rIns="0" bIns="0" rtlCol="0" anchor="t"/>
          <a:lstStyle/>
          <a:p>
            <a:pPr marL="0" indent="0" algn="ctr">
              <a:lnSpc>
                <a:spcPts val="4300"/>
              </a:lnSpc>
              <a:buNone/>
            </a:pPr>
            <a:r>
              <a:rPr lang="en-IN" sz="3450" dirty="0">
                <a:latin typeface="Patrick Hand" pitchFamily="34" charset="0"/>
                <a:ea typeface="Patrick Hand" pitchFamily="34" charset="-122"/>
                <a:cs typeface="Patrick Hand" pitchFamily="34" charset="-120"/>
              </a:rPr>
              <a:t>Technologies Used</a:t>
            </a:r>
            <a:endParaRPr lang="en-US" sz="3450" dirty="0"/>
          </a:p>
        </p:txBody>
      </p:sp>
      <p:sp>
        <p:nvSpPr>
          <p:cNvPr id="4" name="Text 1"/>
          <p:cNvSpPr/>
          <p:nvPr/>
        </p:nvSpPr>
        <p:spPr>
          <a:xfrm>
            <a:off x="966073" y="1994892"/>
            <a:ext cx="8327014" cy="4704082"/>
          </a:xfrm>
          <a:prstGeom prst="rect">
            <a:avLst/>
          </a:prstGeom>
          <a:noFill/>
          <a:ln/>
        </p:spPr>
        <p:txBody>
          <a:bodyPr wrap="none" lIns="0" tIns="0" rIns="0" bIns="0" rtlCol="0" anchor="t"/>
          <a:lstStyle/>
          <a:p>
            <a:pPr marL="0" indent="0">
              <a:lnSpc>
                <a:spcPts val="2150"/>
              </a:lnSpc>
              <a:buNone/>
            </a:pPr>
            <a:endParaRPr lang="en-US" sz="1700" b="1" dirty="0"/>
          </a:p>
        </p:txBody>
      </p:sp>
      <p:sp>
        <p:nvSpPr>
          <p:cNvPr id="5" name="Text 2"/>
          <p:cNvSpPr/>
          <p:nvPr/>
        </p:nvSpPr>
        <p:spPr>
          <a:xfrm>
            <a:off x="966073" y="2491621"/>
            <a:ext cx="3336608" cy="353378"/>
          </a:xfrm>
          <a:prstGeom prst="rect">
            <a:avLst/>
          </a:prstGeom>
          <a:noFill/>
          <a:ln/>
        </p:spPr>
        <p:txBody>
          <a:bodyPr wrap="none" lIns="0" tIns="0" rIns="0" bIns="0" rtlCol="0" anchor="t"/>
          <a:lstStyle/>
          <a:p>
            <a:pPr>
              <a:lnSpc>
                <a:spcPts val="2750"/>
              </a:lnSpc>
              <a:buSzPct val="100000"/>
            </a:pPr>
            <a:endParaRPr lang="en-US" sz="1700" dirty="0"/>
          </a:p>
        </p:txBody>
      </p:sp>
      <p:sp>
        <p:nvSpPr>
          <p:cNvPr id="6" name="Text 3"/>
          <p:cNvSpPr/>
          <p:nvPr/>
        </p:nvSpPr>
        <p:spPr>
          <a:xfrm>
            <a:off x="966073" y="2922270"/>
            <a:ext cx="3336608" cy="353378"/>
          </a:xfrm>
          <a:prstGeom prst="rect">
            <a:avLst/>
          </a:prstGeom>
          <a:noFill/>
          <a:ln/>
        </p:spPr>
        <p:txBody>
          <a:bodyPr wrap="none" lIns="0" tIns="0" rIns="0" bIns="0" rtlCol="0" anchor="t"/>
          <a:lstStyle/>
          <a:p>
            <a:pPr>
              <a:lnSpc>
                <a:spcPts val="2750"/>
              </a:lnSpc>
              <a:buSzPct val="100000"/>
            </a:pPr>
            <a:endParaRPr lang="en-US" sz="1700" dirty="0"/>
          </a:p>
        </p:txBody>
      </p:sp>
      <p:sp>
        <p:nvSpPr>
          <p:cNvPr id="8" name="Text 5"/>
          <p:cNvSpPr/>
          <p:nvPr/>
        </p:nvSpPr>
        <p:spPr>
          <a:xfrm>
            <a:off x="4848939" y="4870607"/>
            <a:ext cx="2208252" cy="275987"/>
          </a:xfrm>
          <a:prstGeom prst="rect">
            <a:avLst/>
          </a:prstGeom>
          <a:noFill/>
          <a:ln/>
        </p:spPr>
        <p:txBody>
          <a:bodyPr wrap="none" lIns="0" tIns="0" rIns="0" bIns="0" rtlCol="0" anchor="t"/>
          <a:lstStyle/>
          <a:p>
            <a:pPr marL="0" indent="0">
              <a:lnSpc>
                <a:spcPts val="2150"/>
              </a:lnSpc>
              <a:buNone/>
            </a:pPr>
            <a:endParaRPr lang="en-US" sz="1700" b="1" dirty="0"/>
          </a:p>
        </p:txBody>
      </p:sp>
      <p:sp>
        <p:nvSpPr>
          <p:cNvPr id="9" name="Text 6"/>
          <p:cNvSpPr/>
          <p:nvPr/>
        </p:nvSpPr>
        <p:spPr>
          <a:xfrm>
            <a:off x="4848939" y="5445202"/>
            <a:ext cx="3336608" cy="353378"/>
          </a:xfrm>
          <a:prstGeom prst="rect">
            <a:avLst/>
          </a:prstGeom>
          <a:noFill/>
          <a:ln/>
        </p:spPr>
        <p:txBody>
          <a:bodyPr wrap="none" lIns="0" tIns="0" rIns="0" bIns="0" rtlCol="0" anchor="t"/>
          <a:lstStyle/>
          <a:p>
            <a:pPr>
              <a:lnSpc>
                <a:spcPts val="2750"/>
              </a:lnSpc>
              <a:buSzPct val="100000"/>
            </a:pPr>
            <a:endParaRPr lang="en-US" sz="1700" dirty="0"/>
          </a:p>
        </p:txBody>
      </p:sp>
      <p:sp>
        <p:nvSpPr>
          <p:cNvPr id="10" name="Text 7"/>
          <p:cNvSpPr/>
          <p:nvPr/>
        </p:nvSpPr>
        <p:spPr>
          <a:xfrm>
            <a:off x="4848939" y="5875850"/>
            <a:ext cx="3336608" cy="671705"/>
          </a:xfrm>
          <a:prstGeom prst="rect">
            <a:avLst/>
          </a:prstGeom>
          <a:noFill/>
          <a:ln/>
        </p:spPr>
        <p:txBody>
          <a:bodyPr wrap="none" lIns="0" tIns="0" rIns="0" bIns="0" rtlCol="0" anchor="t"/>
          <a:lstStyle/>
          <a:p>
            <a:pPr>
              <a:lnSpc>
                <a:spcPts val="2750"/>
              </a:lnSpc>
              <a:buSzPct val="100000"/>
            </a:pPr>
            <a:endParaRPr lang="en-IN" sz="1600" dirty="0"/>
          </a:p>
        </p:txBody>
      </p:sp>
      <p:sp>
        <p:nvSpPr>
          <p:cNvPr id="11" name="Text 8"/>
          <p:cNvSpPr/>
          <p:nvPr/>
        </p:nvSpPr>
        <p:spPr>
          <a:xfrm>
            <a:off x="4848939" y="1994892"/>
            <a:ext cx="2208252" cy="275987"/>
          </a:xfrm>
          <a:prstGeom prst="rect">
            <a:avLst/>
          </a:prstGeom>
          <a:noFill/>
          <a:ln/>
        </p:spPr>
        <p:txBody>
          <a:bodyPr wrap="none" lIns="0" tIns="0" rIns="0" bIns="0" rtlCol="0" anchor="t"/>
          <a:lstStyle/>
          <a:p>
            <a:pPr marL="0" indent="0">
              <a:lnSpc>
                <a:spcPts val="2150"/>
              </a:lnSpc>
              <a:buNone/>
            </a:pPr>
            <a:endParaRPr lang="en-US" sz="1700" b="1" dirty="0"/>
          </a:p>
        </p:txBody>
      </p:sp>
      <p:sp>
        <p:nvSpPr>
          <p:cNvPr id="12" name="Text 9"/>
          <p:cNvSpPr/>
          <p:nvPr/>
        </p:nvSpPr>
        <p:spPr>
          <a:xfrm>
            <a:off x="4848938" y="2491622"/>
            <a:ext cx="4367797" cy="452796"/>
          </a:xfrm>
          <a:prstGeom prst="rect">
            <a:avLst/>
          </a:prstGeom>
          <a:noFill/>
          <a:ln/>
        </p:spPr>
        <p:txBody>
          <a:bodyPr wrap="square" lIns="0" tIns="0" rIns="0" bIns="0" rtlCol="0" anchor="t"/>
          <a:lstStyle/>
          <a:p>
            <a:pPr>
              <a:lnSpc>
                <a:spcPts val="2750"/>
              </a:lnSpc>
              <a:buSzPct val="100000"/>
            </a:pPr>
            <a:endParaRPr lang="en-US" sz="1700" dirty="0"/>
          </a:p>
        </p:txBody>
      </p:sp>
      <p:sp>
        <p:nvSpPr>
          <p:cNvPr id="13" name="Text 10"/>
          <p:cNvSpPr/>
          <p:nvPr/>
        </p:nvSpPr>
        <p:spPr>
          <a:xfrm>
            <a:off x="4848939" y="2966205"/>
            <a:ext cx="4066461" cy="546973"/>
          </a:xfrm>
          <a:prstGeom prst="rect">
            <a:avLst/>
          </a:prstGeom>
          <a:noFill/>
          <a:ln/>
        </p:spPr>
        <p:txBody>
          <a:bodyPr wrap="none" lIns="0" tIns="0" rIns="0" bIns="0" rtlCol="0" anchor="t"/>
          <a:lstStyle/>
          <a:p>
            <a:pPr>
              <a:lnSpc>
                <a:spcPts val="2750"/>
              </a:lnSpc>
              <a:buSzPct val="100000"/>
            </a:pPr>
            <a:endParaRPr lang="en-US" sz="1700" dirty="0"/>
          </a:p>
        </p:txBody>
      </p:sp>
      <p:sp>
        <p:nvSpPr>
          <p:cNvPr id="16" name="Text 13"/>
          <p:cNvSpPr/>
          <p:nvPr/>
        </p:nvSpPr>
        <p:spPr>
          <a:xfrm>
            <a:off x="10053874" y="1994891"/>
            <a:ext cx="2423272" cy="275987"/>
          </a:xfrm>
          <a:prstGeom prst="rect">
            <a:avLst/>
          </a:prstGeom>
          <a:noFill/>
          <a:ln/>
        </p:spPr>
        <p:txBody>
          <a:bodyPr wrap="none" lIns="0" tIns="0" rIns="0" bIns="0" rtlCol="0" anchor="t"/>
          <a:lstStyle/>
          <a:p>
            <a:pPr marL="0" indent="0">
              <a:lnSpc>
                <a:spcPts val="2150"/>
              </a:lnSpc>
              <a:buNone/>
            </a:pPr>
            <a:r>
              <a:rPr lang="en-US" sz="1700" b="1" dirty="0">
                <a:solidFill>
                  <a:srgbClr val="383838"/>
                </a:solidFill>
                <a:ea typeface="Patrick Hand" pitchFamily="34" charset="-122"/>
                <a:cs typeface="Patrick Hand" pitchFamily="34" charset="-120"/>
              </a:rPr>
              <a:t>t</a:t>
            </a:r>
            <a:endParaRPr lang="en-US" sz="1700" b="1" dirty="0"/>
          </a:p>
        </p:txBody>
      </p:sp>
      <p:sp>
        <p:nvSpPr>
          <p:cNvPr id="18" name="Text 15"/>
          <p:cNvSpPr/>
          <p:nvPr/>
        </p:nvSpPr>
        <p:spPr>
          <a:xfrm>
            <a:off x="9898638" y="2392204"/>
            <a:ext cx="3661498" cy="1280754"/>
          </a:xfrm>
          <a:prstGeom prst="rect">
            <a:avLst/>
          </a:prstGeom>
          <a:noFill/>
          <a:ln/>
        </p:spPr>
        <p:txBody>
          <a:bodyPr wrap="square" lIns="0" tIns="0" rIns="0" bIns="0" rtlCol="0" anchor="t"/>
          <a:lstStyle/>
          <a:p>
            <a:pPr>
              <a:lnSpc>
                <a:spcPts val="2750"/>
              </a:lnSpc>
              <a:buSzPct val="100000"/>
            </a:pPr>
            <a:endParaRPr lang="en-US" sz="1700" dirty="0">
              <a:ea typeface="Patrick Hand" pitchFamily="34" charset="-122"/>
              <a:cs typeface="Patrick Hand" pitchFamily="34" charset="-120"/>
            </a:endParaRPr>
          </a:p>
        </p:txBody>
      </p:sp>
      <p:sp>
        <p:nvSpPr>
          <p:cNvPr id="19" name="Rectangle 18">
            <a:extLst>
              <a:ext uri="{FF2B5EF4-FFF2-40B4-BE49-F238E27FC236}">
                <a16:creationId xmlns:a16="http://schemas.microsoft.com/office/drawing/2014/main" id="{908E64EE-3D83-5E55-6E6D-2EE674A5231E}"/>
              </a:ext>
            </a:extLst>
          </p:cNvPr>
          <p:cNvSpPr/>
          <p:nvPr/>
        </p:nvSpPr>
        <p:spPr>
          <a:xfrm>
            <a:off x="12593782" y="7658100"/>
            <a:ext cx="1932709" cy="488373"/>
          </a:xfrm>
          <a:prstGeom prst="rect">
            <a:avLst/>
          </a:prstGeom>
          <a:solidFill>
            <a:srgbClr val="F7F7F7"/>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14" name="Text 10">
            <a:extLst>
              <a:ext uri="{FF2B5EF4-FFF2-40B4-BE49-F238E27FC236}">
                <a16:creationId xmlns:a16="http://schemas.microsoft.com/office/drawing/2014/main" id="{A6FC9C6D-DDB1-A2E2-B3FB-7B67F95E7242}"/>
              </a:ext>
            </a:extLst>
          </p:cNvPr>
          <p:cNvSpPr/>
          <p:nvPr/>
        </p:nvSpPr>
        <p:spPr>
          <a:xfrm>
            <a:off x="4848939" y="3672958"/>
            <a:ext cx="4870794" cy="899041"/>
          </a:xfrm>
          <a:prstGeom prst="rect">
            <a:avLst/>
          </a:prstGeom>
          <a:noFill/>
          <a:ln/>
        </p:spPr>
        <p:txBody>
          <a:bodyPr wrap="none" lIns="0" tIns="0" rIns="0" bIns="0" rtlCol="0" anchor="t"/>
          <a:lstStyle/>
          <a:p>
            <a:pPr>
              <a:lnSpc>
                <a:spcPts val="2750"/>
              </a:lnSpc>
              <a:buSzPct val="100000"/>
            </a:pPr>
            <a:endParaRPr lang="en-US" sz="1700" dirty="0"/>
          </a:p>
        </p:txBody>
      </p:sp>
      <p:sp>
        <p:nvSpPr>
          <p:cNvPr id="15" name="TextBox 14">
            <a:extLst>
              <a:ext uri="{FF2B5EF4-FFF2-40B4-BE49-F238E27FC236}">
                <a16:creationId xmlns:a16="http://schemas.microsoft.com/office/drawing/2014/main" id="{55E61694-118D-231E-3A1A-93A21466D006}"/>
              </a:ext>
            </a:extLst>
          </p:cNvPr>
          <p:cNvSpPr txBox="1"/>
          <p:nvPr/>
        </p:nvSpPr>
        <p:spPr>
          <a:xfrm>
            <a:off x="3657599" y="1682045"/>
            <a:ext cx="8100392" cy="3139321"/>
          </a:xfrm>
          <a:prstGeom prst="rect">
            <a:avLst/>
          </a:prstGeom>
          <a:noFill/>
        </p:spPr>
        <p:txBody>
          <a:bodyPr wrap="square" rtlCol="0">
            <a:spAutoFit/>
          </a:bodyPr>
          <a:lstStyle/>
          <a:p>
            <a:pPr marL="285750" indent="-285750">
              <a:buFont typeface="Arial" panose="020B0604020202020204" pitchFamily="34" charset="0"/>
              <a:buChar char="•"/>
            </a:pPr>
            <a:r>
              <a:rPr lang="en-IN" dirty="0"/>
              <a:t>Framework: Flutter (Dart)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Maps: </a:t>
            </a:r>
            <a:r>
              <a:rPr lang="en-IN" dirty="0" err="1"/>
              <a:t>goggle_maps_flutter</a:t>
            </a:r>
            <a:r>
              <a:rPr lang="en-IN" dirty="0"/>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Location: geolocator</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Routing: Google Directions API + OSRM (Open Source Routing</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 Machine)State Management: Provider / </a:t>
            </a:r>
            <a:r>
              <a:rPr lang="en-IN" dirty="0" err="1"/>
              <a:t>setState</a:t>
            </a:r>
            <a:r>
              <a:rPr lang="en-IN" dirty="0"/>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Backend: Firebase (Auth, Firestore)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551D02-9047-3532-6D6C-5C3F060BECA8}"/>
              </a:ext>
            </a:extLst>
          </p:cNvPr>
          <p:cNvSpPr txBox="1"/>
          <p:nvPr/>
        </p:nvSpPr>
        <p:spPr>
          <a:xfrm>
            <a:off x="4210755" y="328979"/>
            <a:ext cx="7315200" cy="646331"/>
          </a:xfrm>
          <a:prstGeom prst="rect">
            <a:avLst/>
          </a:prstGeom>
          <a:noFill/>
        </p:spPr>
        <p:txBody>
          <a:bodyPr wrap="square">
            <a:spAutoFit/>
          </a:bodyPr>
          <a:lstStyle/>
          <a:p>
            <a:r>
              <a:rPr lang="en-US" sz="3600" kern="1200" dirty="0">
                <a:solidFill>
                  <a:srgbClr val="000000"/>
                </a:solidFill>
                <a:effectLst/>
                <a:latin typeface="Calibri" panose="020F0502020204030204" pitchFamily="34" charset="0"/>
                <a:ea typeface="+mn-ea"/>
                <a:cs typeface="+mn-cs"/>
              </a:rPr>
              <a:t> </a:t>
            </a:r>
            <a:r>
              <a:rPr lang="en-US" sz="3600" kern="1200" dirty="0">
                <a:effectLst/>
                <a:latin typeface="Calibri" panose="020F0502020204030204" pitchFamily="34" charset="0"/>
                <a:ea typeface="+mn-ea"/>
                <a:cs typeface="+mn-cs"/>
              </a:rPr>
              <a:t>PROPOSED METHODOLOGY</a:t>
            </a:r>
            <a:endParaRPr lang="en-IN" sz="3600" dirty="0"/>
          </a:p>
        </p:txBody>
      </p:sp>
      <p:sp>
        <p:nvSpPr>
          <p:cNvPr id="7" name="TextBox 6">
            <a:extLst>
              <a:ext uri="{FF2B5EF4-FFF2-40B4-BE49-F238E27FC236}">
                <a16:creationId xmlns:a16="http://schemas.microsoft.com/office/drawing/2014/main" id="{957C8CB1-4251-F82D-729E-93E587EB01D3}"/>
              </a:ext>
            </a:extLst>
          </p:cNvPr>
          <p:cNvSpPr txBox="1"/>
          <p:nvPr/>
        </p:nvSpPr>
        <p:spPr>
          <a:xfrm>
            <a:off x="1591735" y="1184352"/>
            <a:ext cx="9934220" cy="6001643"/>
          </a:xfrm>
          <a:prstGeom prst="rect">
            <a:avLst/>
          </a:prstGeom>
          <a:noFill/>
        </p:spPr>
        <p:txBody>
          <a:bodyPr wrap="square" rtlCol="0">
            <a:spAutoFit/>
          </a:bodyPr>
          <a:lstStyle/>
          <a:p>
            <a:r>
              <a:rPr lang="en-US" sz="2400" dirty="0"/>
              <a:t>• Collect system requirements from students, faculty, and administrators</a:t>
            </a:r>
            <a:br>
              <a:rPr lang="en-US" sz="2400" dirty="0"/>
            </a:br>
            <a:r>
              <a:rPr lang="en-US" sz="2400" dirty="0"/>
              <a:t>• Define system scope and use-case scenarios</a:t>
            </a:r>
            <a:br>
              <a:rPr lang="en-US" sz="2400" dirty="0"/>
            </a:br>
            <a:r>
              <a:rPr lang="en-US" sz="2400" dirty="0"/>
              <a:t>• Design overall system architecture</a:t>
            </a:r>
            <a:br>
              <a:rPr lang="en-US" sz="2400" dirty="0"/>
            </a:br>
            <a:r>
              <a:rPr lang="en-US" sz="2400" dirty="0"/>
              <a:t>• Create database schema and data models in Firebase</a:t>
            </a:r>
            <a:br>
              <a:rPr lang="en-US" sz="2400" dirty="0"/>
            </a:br>
            <a:r>
              <a:rPr lang="en-US" sz="2400" dirty="0"/>
              <a:t>• Integrate Google Maps API for real-time map display</a:t>
            </a:r>
            <a:br>
              <a:rPr lang="en-US" sz="2400" dirty="0"/>
            </a:br>
            <a:r>
              <a:rPr lang="en-US" sz="2400" dirty="0"/>
              <a:t>• Implement graph-based routing algorithm for shortest path calculation</a:t>
            </a:r>
            <a:br>
              <a:rPr lang="en-US" sz="2400" dirty="0"/>
            </a:br>
            <a:r>
              <a:rPr lang="en-US" sz="2400" dirty="0"/>
              <a:t>• Develop user-friendly interface using Flutter</a:t>
            </a:r>
            <a:br>
              <a:rPr lang="en-US" sz="2400" dirty="0"/>
            </a:br>
            <a:r>
              <a:rPr lang="en-US" sz="2400" dirty="0"/>
              <a:t>• Build modules for faculty directory, events, lost-and-found, and feedback system</a:t>
            </a:r>
            <a:br>
              <a:rPr lang="en-US" sz="2400" dirty="0"/>
            </a:br>
            <a:r>
              <a:rPr lang="en-US" sz="2400" dirty="0"/>
              <a:t>• Implement secure user authentication and authorization</a:t>
            </a:r>
            <a:br>
              <a:rPr lang="en-US" sz="2400" dirty="0"/>
            </a:br>
            <a:r>
              <a:rPr lang="en-US" sz="2400" dirty="0"/>
              <a:t>• Perform unit testing and integration testing</a:t>
            </a:r>
            <a:br>
              <a:rPr lang="en-US" sz="2400" dirty="0"/>
            </a:br>
            <a:r>
              <a:rPr lang="en-US" sz="2400" dirty="0"/>
              <a:t>• Optimize application performance and security</a:t>
            </a:r>
            <a:br>
              <a:rPr lang="en-US" sz="2400" dirty="0"/>
            </a:br>
            <a:r>
              <a:rPr lang="en-US" sz="2400" dirty="0"/>
              <a:t>• Deploy the application for real-world usage</a:t>
            </a:r>
            <a:br>
              <a:rPr lang="en-US" sz="2400" dirty="0"/>
            </a:br>
            <a:r>
              <a:rPr lang="en-US" sz="2400" dirty="0"/>
              <a:t>• Monitor system functionality and gather user feedback</a:t>
            </a:r>
            <a:endParaRPr lang="en-IN" sz="2400" dirty="0"/>
          </a:p>
        </p:txBody>
      </p:sp>
    </p:spTree>
    <p:extLst>
      <p:ext uri="{BB962C8B-B14F-4D97-AF65-F5344CB8AC3E}">
        <p14:creationId xmlns:p14="http://schemas.microsoft.com/office/powerpoint/2010/main" val="2790161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693F05-E934-BF08-F30E-E76CA9362767}"/>
              </a:ext>
            </a:extLst>
          </p:cNvPr>
          <p:cNvSpPr txBox="1"/>
          <p:nvPr/>
        </p:nvSpPr>
        <p:spPr>
          <a:xfrm>
            <a:off x="575732" y="462280"/>
            <a:ext cx="3996268" cy="523220"/>
          </a:xfrm>
          <a:prstGeom prst="rect">
            <a:avLst/>
          </a:prstGeom>
          <a:noFill/>
        </p:spPr>
        <p:txBody>
          <a:bodyPr wrap="square" rtlCol="0">
            <a:spAutoFit/>
          </a:bodyPr>
          <a:lstStyle/>
          <a:p>
            <a:r>
              <a:rPr lang="en-US" sz="2800" dirty="0"/>
              <a:t>CRITICAL ANALYSIS:</a:t>
            </a:r>
            <a:endParaRPr lang="en-IN" sz="2800" dirty="0"/>
          </a:p>
        </p:txBody>
      </p:sp>
      <p:sp>
        <p:nvSpPr>
          <p:cNvPr id="6" name="TextBox 5">
            <a:extLst>
              <a:ext uri="{FF2B5EF4-FFF2-40B4-BE49-F238E27FC236}">
                <a16:creationId xmlns:a16="http://schemas.microsoft.com/office/drawing/2014/main" id="{7F3E6835-3FA3-8A59-1B9B-7B8EF98E47D4}"/>
              </a:ext>
            </a:extLst>
          </p:cNvPr>
          <p:cNvSpPr txBox="1"/>
          <p:nvPr/>
        </p:nvSpPr>
        <p:spPr>
          <a:xfrm>
            <a:off x="575732" y="1286933"/>
            <a:ext cx="13772446" cy="5262979"/>
          </a:xfrm>
          <a:prstGeom prst="rect">
            <a:avLst/>
          </a:prstGeom>
          <a:noFill/>
        </p:spPr>
        <p:txBody>
          <a:bodyPr wrap="square" rtlCol="0">
            <a:spAutoFit/>
          </a:bodyPr>
          <a:lstStyle/>
          <a:p>
            <a:pPr algn="just"/>
            <a:r>
              <a:rPr lang="en-US" sz="2800" dirty="0"/>
              <a:t>The Optimized App-Based Routing and Campus Navigation System is a useful solution that helps students, staff, and visitors easily find locations and access important campus services through a single mobile application. It improves convenience by providing real-time navigation and quick access to information such as faculty details, events, lost-and-found items, and feedback options. The app works smoothly across devices and saves time for users. However, it depends on a stable internet connection and accurate GPS signals, which may not work well indoors or in areas with weak network coverage. There are also minor concerns about user privacy when using location services. Even with these limitations, the system is effective, practical, and has strong potential for future improvements like offline navigation and indoor location tracking.</a:t>
            </a:r>
            <a:endParaRPr lang="en-IN" sz="2800" dirty="0"/>
          </a:p>
        </p:txBody>
      </p:sp>
    </p:spTree>
    <p:extLst>
      <p:ext uri="{BB962C8B-B14F-4D97-AF65-F5344CB8AC3E}">
        <p14:creationId xmlns:p14="http://schemas.microsoft.com/office/powerpoint/2010/main" val="3035083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C47B3D-18F8-389B-B5C4-E3AD1FB7A234}"/>
              </a:ext>
            </a:extLst>
          </p:cNvPr>
          <p:cNvSpPr txBox="1"/>
          <p:nvPr/>
        </p:nvSpPr>
        <p:spPr>
          <a:xfrm>
            <a:off x="722489" y="451556"/>
            <a:ext cx="4165600" cy="523220"/>
          </a:xfrm>
          <a:prstGeom prst="rect">
            <a:avLst/>
          </a:prstGeom>
          <a:noFill/>
        </p:spPr>
        <p:txBody>
          <a:bodyPr wrap="square" rtlCol="0">
            <a:spAutoFit/>
          </a:bodyPr>
          <a:lstStyle/>
          <a:p>
            <a:r>
              <a:rPr lang="en-US" sz="2800" b="1" dirty="0"/>
              <a:t>PROPOSED SOLUTION</a:t>
            </a:r>
            <a:endParaRPr lang="en-IN" sz="2800" b="1" dirty="0"/>
          </a:p>
        </p:txBody>
      </p:sp>
      <p:sp>
        <p:nvSpPr>
          <p:cNvPr id="3" name="TextBox 2">
            <a:extLst>
              <a:ext uri="{FF2B5EF4-FFF2-40B4-BE49-F238E27FC236}">
                <a16:creationId xmlns:a16="http://schemas.microsoft.com/office/drawing/2014/main" id="{B3134992-5796-1890-6831-93D1DF70251F}"/>
              </a:ext>
            </a:extLst>
          </p:cNvPr>
          <p:cNvSpPr txBox="1"/>
          <p:nvPr/>
        </p:nvSpPr>
        <p:spPr>
          <a:xfrm>
            <a:off x="722489" y="1749777"/>
            <a:ext cx="13264444" cy="5262979"/>
          </a:xfrm>
          <a:prstGeom prst="rect">
            <a:avLst/>
          </a:prstGeom>
          <a:noFill/>
        </p:spPr>
        <p:txBody>
          <a:bodyPr wrap="square" rtlCol="0">
            <a:spAutoFit/>
          </a:bodyPr>
          <a:lstStyle/>
          <a:p>
            <a:pPr algn="just"/>
            <a:r>
              <a:rPr lang="en-US" sz="2400" dirty="0"/>
              <a:t>To overcome the challenges of navigation and information accessibility in large university campuses, this project proposes the development of an Optimized App-Based Campus Navigation and Service Management System. The solution is designed as a centralized mobile application that integrates real-time GPS-based routing with essential campus services. The system uses Flutter to provide a smooth and consistent user interface across multiple platforms and utilizes Google Maps API to display accurate maps and provide real-time route guidance. Firebase is used as a secure backend for user authentication, real-time database management, and cloud storage. The application includes key modules such as campus navigation, faculty directory, event notifications, lost-and-found management, and feedback submission. A graph-based routing algorithm ensures that users receive the shortest and most efficient paths between campus locations. This proposed solution improves operational efficiency, reduces time spent locating services, enhances communication, and significantly improves the overall campus experience.</a:t>
            </a:r>
            <a:endParaRPr lang="en-IN" sz="2400" dirty="0"/>
          </a:p>
        </p:txBody>
      </p:sp>
    </p:spTree>
    <p:extLst>
      <p:ext uri="{BB962C8B-B14F-4D97-AF65-F5344CB8AC3E}">
        <p14:creationId xmlns:p14="http://schemas.microsoft.com/office/powerpoint/2010/main" val="2023463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025C59-3275-D9EC-BCF3-C86E2ABAC14D}"/>
              </a:ext>
            </a:extLst>
          </p:cNvPr>
          <p:cNvSpPr txBox="1"/>
          <p:nvPr/>
        </p:nvSpPr>
        <p:spPr>
          <a:xfrm>
            <a:off x="5311422" y="225779"/>
            <a:ext cx="4052711"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OBJECTIVES</a:t>
            </a:r>
            <a:endParaRPr lang="en-IN" sz="3200" dirty="0"/>
          </a:p>
        </p:txBody>
      </p:sp>
      <p:sp>
        <p:nvSpPr>
          <p:cNvPr id="3" name="TextBox 2">
            <a:extLst>
              <a:ext uri="{FF2B5EF4-FFF2-40B4-BE49-F238E27FC236}">
                <a16:creationId xmlns:a16="http://schemas.microsoft.com/office/drawing/2014/main" id="{63182E8B-AF92-E84A-9BAF-95258ADE2E36}"/>
              </a:ext>
            </a:extLst>
          </p:cNvPr>
          <p:cNvSpPr txBox="1"/>
          <p:nvPr/>
        </p:nvSpPr>
        <p:spPr>
          <a:xfrm>
            <a:off x="1178217" y="1014035"/>
            <a:ext cx="10321357" cy="7140416"/>
          </a:xfrm>
          <a:prstGeom prst="rect">
            <a:avLst/>
          </a:prstGeom>
          <a:noFill/>
        </p:spPr>
        <p:txBody>
          <a:bodyPr wrap="square" rtlCol="0">
            <a:spAutoFit/>
          </a:bodyPr>
          <a:lstStyle/>
          <a:p>
            <a:r>
              <a:rPr lang="en-US" sz="2000" dirty="0"/>
              <a:t>• To design and develop an intelligent campus navigation system using real-time GPS technology.</a:t>
            </a:r>
            <a:br>
              <a:rPr lang="en-US" sz="2000" dirty="0"/>
            </a:br>
            <a:r>
              <a:rPr lang="en-US" sz="2000" dirty="0"/>
              <a:t>• To optimize routing paths using graph-based shortest path algorithms for better accuracy.</a:t>
            </a:r>
            <a:br>
              <a:rPr lang="en-US" sz="2000" dirty="0"/>
            </a:br>
            <a:r>
              <a:rPr lang="en-US" sz="2000" dirty="0"/>
              <a:t>• To provide an interactive and user-friendly interface for easy navigation and service access.</a:t>
            </a:r>
            <a:br>
              <a:rPr lang="en-US" sz="2000" dirty="0"/>
            </a:br>
            <a:r>
              <a:rPr lang="en-US" sz="2000" dirty="0"/>
              <a:t>• To integrate a digital faculty directory with search and filter capabilities.</a:t>
            </a:r>
            <a:br>
              <a:rPr lang="en-US" sz="2000" dirty="0"/>
            </a:br>
            <a:r>
              <a:rPr lang="en-US" sz="2000" dirty="0"/>
              <a:t>• To develop a real-time event notification and campus announcement system.</a:t>
            </a:r>
            <a:br>
              <a:rPr lang="en-US" sz="2000" dirty="0"/>
            </a:br>
            <a:r>
              <a:rPr lang="en-US" sz="2000" dirty="0"/>
              <a:t>• To implement a lost-and-found management module with image upload and status tracking.</a:t>
            </a:r>
            <a:br>
              <a:rPr lang="en-US" sz="2000" dirty="0"/>
            </a:br>
            <a:r>
              <a:rPr lang="en-US" sz="2000" dirty="0"/>
              <a:t>• To enable secure user registration and login with data protection mechanisms.</a:t>
            </a:r>
            <a:br>
              <a:rPr lang="en-US" sz="2000" dirty="0"/>
            </a:br>
            <a:r>
              <a:rPr lang="en-US" sz="2000" dirty="0"/>
              <a:t>• To store and manage application data safely using cloud-based backend services.</a:t>
            </a:r>
            <a:br>
              <a:rPr lang="en-US" sz="2000" dirty="0"/>
            </a:br>
            <a:r>
              <a:rPr lang="en-US" sz="2000" dirty="0"/>
              <a:t>• To reduce dependency on physical notice boards and manual information systems.</a:t>
            </a:r>
            <a:br>
              <a:rPr lang="en-US" sz="2000" dirty="0"/>
            </a:br>
            <a:r>
              <a:rPr lang="en-US" sz="2000" dirty="0"/>
              <a:t>• To support real-time updates of campus information and services.</a:t>
            </a:r>
            <a:br>
              <a:rPr lang="en-US" sz="2000" dirty="0"/>
            </a:br>
            <a:r>
              <a:rPr lang="en-US" sz="2000" dirty="0"/>
              <a:t>• To enhance user engagement through feedback and query submission features.</a:t>
            </a:r>
            <a:br>
              <a:rPr lang="en-US" sz="2000" dirty="0"/>
            </a:br>
            <a:r>
              <a:rPr lang="en-US" sz="2000" dirty="0"/>
              <a:t>• To ensure system scalability to support a large number of users simultaneously.</a:t>
            </a:r>
            <a:br>
              <a:rPr lang="en-US" sz="2000" dirty="0"/>
            </a:br>
            <a:r>
              <a:rPr lang="en-US" sz="2000" dirty="0"/>
              <a:t>• To provide offline access to basic campus maps wherever possible.</a:t>
            </a:r>
            <a:br>
              <a:rPr lang="en-US" sz="2000" dirty="0"/>
            </a:br>
            <a:r>
              <a:rPr lang="en-US" sz="2000" dirty="0"/>
              <a:t>• To improve accessibility for new students and visitors unfamiliar with the campus.</a:t>
            </a:r>
            <a:br>
              <a:rPr lang="en-US" sz="2000" dirty="0"/>
            </a:br>
            <a:r>
              <a:rPr lang="en-US" sz="2000" dirty="0"/>
              <a:t>• To contribute to the development of smart campus digital infrastructure</a:t>
            </a:r>
            <a:endParaRPr lang="en-IN" sz="2000" dirty="0"/>
          </a:p>
          <a:p>
            <a:endParaRPr lang="en-IN" dirty="0"/>
          </a:p>
        </p:txBody>
      </p:sp>
    </p:spTree>
    <p:extLst>
      <p:ext uri="{BB962C8B-B14F-4D97-AF65-F5344CB8AC3E}">
        <p14:creationId xmlns:p14="http://schemas.microsoft.com/office/powerpoint/2010/main" val="3738494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EC0E1F-5D6C-EC28-F290-A87C429C01F0}"/>
              </a:ext>
            </a:extLst>
          </p:cNvPr>
          <p:cNvPicPr>
            <a:picLocks noChangeAspect="1"/>
          </p:cNvPicPr>
          <p:nvPr/>
        </p:nvPicPr>
        <p:blipFill>
          <a:blip r:embed="rId2"/>
          <a:stretch>
            <a:fillRect/>
          </a:stretch>
        </p:blipFill>
        <p:spPr>
          <a:xfrm>
            <a:off x="108031" y="-1"/>
            <a:ext cx="6883078" cy="7373073"/>
          </a:xfrm>
          <a:prstGeom prst="rect">
            <a:avLst/>
          </a:prstGeom>
        </p:spPr>
      </p:pic>
      <p:pic>
        <p:nvPicPr>
          <p:cNvPr id="5" name="Picture 4">
            <a:extLst>
              <a:ext uri="{FF2B5EF4-FFF2-40B4-BE49-F238E27FC236}">
                <a16:creationId xmlns:a16="http://schemas.microsoft.com/office/drawing/2014/main" id="{49A3FD70-9E7B-CC53-2950-EDD359EA9156}"/>
              </a:ext>
            </a:extLst>
          </p:cNvPr>
          <p:cNvPicPr>
            <a:picLocks noChangeAspect="1"/>
          </p:cNvPicPr>
          <p:nvPr/>
        </p:nvPicPr>
        <p:blipFill>
          <a:blip r:embed="rId3"/>
          <a:stretch>
            <a:fillRect/>
          </a:stretch>
        </p:blipFill>
        <p:spPr>
          <a:xfrm>
            <a:off x="7141580" y="0"/>
            <a:ext cx="7380788" cy="7373072"/>
          </a:xfrm>
          <a:prstGeom prst="rect">
            <a:avLst/>
          </a:prstGeom>
        </p:spPr>
      </p:pic>
    </p:spTree>
    <p:extLst>
      <p:ext uri="{BB962C8B-B14F-4D97-AF65-F5344CB8AC3E}">
        <p14:creationId xmlns:p14="http://schemas.microsoft.com/office/powerpoint/2010/main" val="223413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69972F-60E6-550E-A61F-7C3887D62C7A}"/>
              </a:ext>
            </a:extLst>
          </p:cNvPr>
          <p:cNvPicPr>
            <a:picLocks noChangeAspect="1"/>
          </p:cNvPicPr>
          <p:nvPr/>
        </p:nvPicPr>
        <p:blipFill>
          <a:blip r:embed="rId2"/>
          <a:stretch>
            <a:fillRect/>
          </a:stretch>
        </p:blipFill>
        <p:spPr>
          <a:xfrm>
            <a:off x="162046" y="127321"/>
            <a:ext cx="6886936" cy="7917083"/>
          </a:xfrm>
          <a:prstGeom prst="rect">
            <a:avLst/>
          </a:prstGeom>
        </p:spPr>
      </p:pic>
      <p:pic>
        <p:nvPicPr>
          <p:cNvPr id="5" name="Picture 4">
            <a:extLst>
              <a:ext uri="{FF2B5EF4-FFF2-40B4-BE49-F238E27FC236}">
                <a16:creationId xmlns:a16="http://schemas.microsoft.com/office/drawing/2014/main" id="{BE5D1D5B-4EE2-0D31-780A-9A46A20CB4FA}"/>
              </a:ext>
            </a:extLst>
          </p:cNvPr>
          <p:cNvPicPr>
            <a:picLocks noChangeAspect="1"/>
          </p:cNvPicPr>
          <p:nvPr/>
        </p:nvPicPr>
        <p:blipFill>
          <a:blip r:embed="rId3"/>
          <a:stretch>
            <a:fillRect/>
          </a:stretch>
        </p:blipFill>
        <p:spPr>
          <a:xfrm>
            <a:off x="7222602" y="127321"/>
            <a:ext cx="7245752" cy="7917083"/>
          </a:xfrm>
          <a:prstGeom prst="rect">
            <a:avLst/>
          </a:prstGeom>
        </p:spPr>
      </p:pic>
    </p:spTree>
    <p:extLst>
      <p:ext uri="{BB962C8B-B14F-4D97-AF65-F5344CB8AC3E}">
        <p14:creationId xmlns:p14="http://schemas.microsoft.com/office/powerpoint/2010/main" val="1937754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108F0E-791F-C536-39D3-940FAEAFD249}"/>
              </a:ext>
            </a:extLst>
          </p:cNvPr>
          <p:cNvPicPr>
            <a:picLocks noChangeAspect="1"/>
          </p:cNvPicPr>
          <p:nvPr/>
        </p:nvPicPr>
        <p:blipFill>
          <a:blip r:embed="rId2"/>
          <a:stretch>
            <a:fillRect/>
          </a:stretch>
        </p:blipFill>
        <p:spPr>
          <a:xfrm>
            <a:off x="162046" y="0"/>
            <a:ext cx="6805913" cy="8102278"/>
          </a:xfrm>
          <a:prstGeom prst="rect">
            <a:avLst/>
          </a:prstGeom>
        </p:spPr>
      </p:pic>
      <p:pic>
        <p:nvPicPr>
          <p:cNvPr id="5" name="Picture 4">
            <a:extLst>
              <a:ext uri="{FF2B5EF4-FFF2-40B4-BE49-F238E27FC236}">
                <a16:creationId xmlns:a16="http://schemas.microsoft.com/office/drawing/2014/main" id="{89C03E56-40BD-A635-92B6-8745E800D3BF}"/>
              </a:ext>
            </a:extLst>
          </p:cNvPr>
          <p:cNvPicPr>
            <a:picLocks noChangeAspect="1"/>
          </p:cNvPicPr>
          <p:nvPr/>
        </p:nvPicPr>
        <p:blipFill>
          <a:blip r:embed="rId3"/>
          <a:stretch>
            <a:fillRect/>
          </a:stretch>
        </p:blipFill>
        <p:spPr>
          <a:xfrm>
            <a:off x="7118430" y="81023"/>
            <a:ext cx="7349924" cy="8021255"/>
          </a:xfrm>
          <a:prstGeom prst="rect">
            <a:avLst/>
          </a:prstGeom>
        </p:spPr>
      </p:pic>
    </p:spTree>
    <p:extLst>
      <p:ext uri="{BB962C8B-B14F-4D97-AF65-F5344CB8AC3E}">
        <p14:creationId xmlns:p14="http://schemas.microsoft.com/office/powerpoint/2010/main" val="3166139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5BA03D-237D-2484-3DFD-BD527B95C33C}"/>
              </a:ext>
            </a:extLst>
          </p:cNvPr>
          <p:cNvSpPr/>
          <p:nvPr/>
        </p:nvSpPr>
        <p:spPr>
          <a:xfrm>
            <a:off x="12563302" y="7621938"/>
            <a:ext cx="1932709" cy="488373"/>
          </a:xfrm>
          <a:prstGeom prst="rect">
            <a:avLst/>
          </a:prstGeom>
          <a:solidFill>
            <a:srgbClr val="F7F7F7"/>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 0"/>
          <p:cNvSpPr/>
          <p:nvPr/>
        </p:nvSpPr>
        <p:spPr>
          <a:xfrm>
            <a:off x="8146679" y="94407"/>
            <a:ext cx="4416623" cy="552093"/>
          </a:xfrm>
          <a:prstGeom prst="rect">
            <a:avLst/>
          </a:prstGeom>
          <a:noFill/>
          <a:ln/>
        </p:spPr>
        <p:txBody>
          <a:bodyPr wrap="none" lIns="0" tIns="0" rIns="0" bIns="0" rtlCol="0" anchor="t"/>
          <a:lstStyle/>
          <a:p>
            <a:pPr marL="0" indent="0" algn="ctr">
              <a:lnSpc>
                <a:spcPts val="4300"/>
              </a:lnSpc>
              <a:buNone/>
            </a:pPr>
            <a:r>
              <a:rPr lang="en-US" sz="3450" dirty="0">
                <a:latin typeface="Patrick Hand" pitchFamily="34" charset="0"/>
                <a:ea typeface="Patrick Hand" pitchFamily="34" charset="-122"/>
                <a:cs typeface="Patrick Hand" pitchFamily="34" charset="-120"/>
              </a:rPr>
              <a:t>Conclusion</a:t>
            </a:r>
            <a:endParaRPr lang="en-US" sz="3450" dirty="0"/>
          </a:p>
        </p:txBody>
      </p:sp>
      <p:sp>
        <p:nvSpPr>
          <p:cNvPr id="4" name="Shape 1"/>
          <p:cNvSpPr/>
          <p:nvPr/>
        </p:nvSpPr>
        <p:spPr>
          <a:xfrm>
            <a:off x="6360251" y="955791"/>
            <a:ext cx="7866302" cy="7077947"/>
          </a:xfrm>
          <a:prstGeom prst="roundRect">
            <a:avLst>
              <a:gd name="adj" fmla="val 11573"/>
            </a:avLst>
          </a:prstGeom>
          <a:solidFill>
            <a:srgbClr val="F7F7F7"/>
          </a:solidFill>
          <a:ln w="30480">
            <a:solidFill>
              <a:srgbClr val="CCCCCC"/>
            </a:solidFill>
            <a:prstDash val="solid"/>
          </a:ln>
        </p:spPr>
        <p:txBody>
          <a:bodyPr/>
          <a:lstStyle/>
          <a:p>
            <a:pPr algn="just"/>
            <a:r>
              <a:rPr lang="en-US" sz="2000" dirty="0">
                <a:solidFill>
                  <a:schemeClr val="bg1">
                    <a:lumMod val="95000"/>
                    <a:lumOff val="5000"/>
                  </a:schemeClr>
                </a:solidFill>
              </a:rPr>
              <a:t>The Optimized App-Based Campus Navigation and Service Management System successfully provides a smart and efficient solution for the challenges faced in large educational campuses. By integrating real-time GPS navigation, faculty information, event management, lost-and-found services, and feedback systems into one application, the project improves accessibility, saves time, and enhances overall user experience. The use of modern technologies such as Flutter, Google Maps API, and Firebase ensures smooth performance, secure data handling, and cross-platform compatibility. The system reduces confusion, improves communication between users and administrators, and minimizes dependence on traditional manual processes. Overall, this project demonstrates the effectiveness of digital transformation in campus environments and serves as a strong foundation for future smart campus applications.</a:t>
            </a:r>
            <a:endParaRPr lang="en-IN" sz="2000" dirty="0">
              <a:solidFill>
                <a:schemeClr val="bg1">
                  <a:lumMod val="95000"/>
                  <a:lumOff val="5000"/>
                </a:schemeClr>
              </a:solidFill>
            </a:endParaRPr>
          </a:p>
        </p:txBody>
      </p:sp>
      <p:sp>
        <p:nvSpPr>
          <p:cNvPr id="5" name="Shape 2"/>
          <p:cNvSpPr/>
          <p:nvPr/>
        </p:nvSpPr>
        <p:spPr>
          <a:xfrm>
            <a:off x="6238331" y="1123406"/>
            <a:ext cx="121920" cy="6742718"/>
          </a:xfrm>
          <a:prstGeom prst="roundRect">
            <a:avLst>
              <a:gd name="adj" fmla="val 76076"/>
            </a:avLst>
          </a:prstGeom>
          <a:solidFill>
            <a:srgbClr val="CCCCCC"/>
          </a:solidFill>
          <a:ln/>
        </p:spPr>
      </p:sp>
      <p:sp>
        <p:nvSpPr>
          <p:cNvPr id="7" name="Text 4"/>
          <p:cNvSpPr/>
          <p:nvPr/>
        </p:nvSpPr>
        <p:spPr>
          <a:xfrm>
            <a:off x="6452370" y="1256624"/>
            <a:ext cx="7805239" cy="6742718"/>
          </a:xfrm>
          <a:prstGeom prst="rect">
            <a:avLst/>
          </a:prstGeom>
          <a:noFill/>
          <a:ln/>
        </p:spPr>
        <p:txBody>
          <a:bodyPr wrap="none" lIns="0" tIns="0" rIns="0" bIns="0" rtlCol="0" anchor="t"/>
          <a:lstStyle/>
          <a:p>
            <a:endParaRPr lang="en-US" sz="2000" dirty="0">
              <a:solidFill>
                <a:srgbClr val="FF0000"/>
              </a:solidFill>
            </a:endParaRPr>
          </a:p>
        </p:txBody>
      </p:sp>
      <p:pic>
        <p:nvPicPr>
          <p:cNvPr id="9" name="Picture 8">
            <a:extLst>
              <a:ext uri="{FF2B5EF4-FFF2-40B4-BE49-F238E27FC236}">
                <a16:creationId xmlns:a16="http://schemas.microsoft.com/office/drawing/2014/main" id="{D0BB7CC2-A894-C876-4BCF-3146D1093F10}"/>
              </a:ext>
            </a:extLst>
          </p:cNvPr>
          <p:cNvPicPr>
            <a:picLocks noChangeAspect="1"/>
          </p:cNvPicPr>
          <p:nvPr/>
        </p:nvPicPr>
        <p:blipFill>
          <a:blip r:embed="rId3"/>
          <a:stretch>
            <a:fillRect/>
          </a:stretch>
        </p:blipFill>
        <p:spPr>
          <a:xfrm>
            <a:off x="0" y="94407"/>
            <a:ext cx="6238331" cy="793933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FB9D48-B017-A2A9-D49B-242067683B4F}"/>
              </a:ext>
            </a:extLst>
          </p:cNvPr>
          <p:cNvSpPr txBox="1"/>
          <p:nvPr/>
        </p:nvSpPr>
        <p:spPr>
          <a:xfrm>
            <a:off x="657922" y="847492"/>
            <a:ext cx="13325707" cy="7478970"/>
          </a:xfrm>
          <a:prstGeom prst="rect">
            <a:avLst/>
          </a:prstGeom>
          <a:noFill/>
        </p:spPr>
        <p:txBody>
          <a:bodyPr wrap="square" rtlCol="0">
            <a:spAutoFit/>
          </a:bodyPr>
          <a:lstStyle/>
          <a:p>
            <a:r>
              <a:rPr lang="en-US" sz="1600" dirty="0"/>
              <a:t>[1] Y. D. Choudhari, A. H. Choudhari, R. P. Raut, J. C. Raut &amp; S. D. Ramteke, “Campus Compass Android App,” IJRASET: International Journal for Research in Applied Science &amp; Engineering Technology, 2024. </a:t>
            </a:r>
            <a:endParaRPr lang="en-IN" sz="1600" dirty="0"/>
          </a:p>
          <a:p>
            <a:r>
              <a:rPr lang="en-US" sz="1600" dirty="0"/>
              <a:t>[2] N. Nordin, M. A. </a:t>
            </a:r>
            <a:r>
              <a:rPr lang="en-US" sz="1600" dirty="0" err="1"/>
              <a:t>Markom</a:t>
            </a:r>
            <a:r>
              <a:rPr lang="en-US" sz="1600" dirty="0"/>
              <a:t>, F. A. Suhaimi &amp; S. Ishak, “A Web-Based Campus Navigation System with Mobile Augmented Reality Intervention,” Journal of Physics: Conference Series, 1997(1), 2021. </a:t>
            </a:r>
            <a:endParaRPr lang="en-IN" sz="1600" dirty="0"/>
          </a:p>
          <a:p>
            <a:r>
              <a:rPr lang="en-US" sz="1600" dirty="0"/>
              <a:t>[3] M. Lakshmi K., R. Manojkumar, R. Kesavan &amp; S. Arul Kumaran, “Campus Route Map,” International Research Journal on Advanced Engineering Hub (IRJAEH), vol. 3,</a:t>
            </a:r>
            <a:r>
              <a:rPr lang="en-US" sz="1600" b="1" dirty="0"/>
              <a:t> </a:t>
            </a:r>
            <a:endParaRPr lang="en-IN" sz="1600" dirty="0"/>
          </a:p>
          <a:p>
            <a:r>
              <a:rPr lang="en-US" sz="1600" dirty="0"/>
              <a:t>[4] Chinmayi M., Ifra Simran K.S, Nischitha H S &amp; Dr. D. V. Rajeshwari Devi — “Campus Navigator with Speech Assistance,” International Journal of Engineering Research &amp; Technology </a:t>
            </a:r>
            <a:endParaRPr lang="en-IN" sz="1600" dirty="0"/>
          </a:p>
          <a:p>
            <a:r>
              <a:rPr lang="en-US" sz="1600" dirty="0"/>
              <a:t> </a:t>
            </a:r>
            <a:endParaRPr lang="en-IN" sz="1600" dirty="0"/>
          </a:p>
          <a:p>
            <a:r>
              <a:rPr lang="en-US" sz="1600" dirty="0"/>
              <a:t>[5] “Smart Campus Navigation: An IoT-Based Approach for Intelligent Administration,” </a:t>
            </a:r>
            <a:endParaRPr lang="en-IN" sz="1600" dirty="0"/>
          </a:p>
          <a:p>
            <a:r>
              <a:rPr lang="en-US" sz="1600" dirty="0"/>
              <a:t> </a:t>
            </a:r>
            <a:endParaRPr lang="en-IN" sz="1600" dirty="0"/>
          </a:p>
          <a:p>
            <a:r>
              <a:rPr lang="en-US" sz="1600" dirty="0"/>
              <a:t>[6] “Smart Campus Navigation System,” IJCRT 2023 (authors: Amisha P. Naik, Nese Likhita, Anupama Sharma, Richa Tripathi), Smart-campus model combining mobile application and IoT for campus management and location guidance. </a:t>
            </a:r>
            <a:endParaRPr lang="en-IN" sz="1600" dirty="0"/>
          </a:p>
          <a:p>
            <a:r>
              <a:rPr lang="en-US" sz="1600" dirty="0"/>
              <a:t> </a:t>
            </a:r>
            <a:endParaRPr lang="en-IN" sz="1600" dirty="0"/>
          </a:p>
          <a:p>
            <a:r>
              <a:rPr lang="en-US" sz="1600" dirty="0"/>
              <a:t>[7] Mohith Prajwal, Nesar, Aishwarya, Soumya B.S — “Campus Navigation Using Augmented Reality,” 2020. </a:t>
            </a:r>
            <a:endParaRPr lang="en-IN" sz="1600" dirty="0"/>
          </a:p>
          <a:p>
            <a:r>
              <a:rPr lang="en-US" sz="1600" dirty="0"/>
              <a:t> </a:t>
            </a:r>
            <a:endParaRPr lang="en-IN" sz="1600" dirty="0"/>
          </a:p>
          <a:p>
            <a:r>
              <a:rPr lang="en-US" sz="1600" dirty="0"/>
              <a:t>[8] “Android App for College Navigation Using UWB,” IRJET, 2019. </a:t>
            </a:r>
            <a:endParaRPr lang="en-IN" sz="1600" dirty="0"/>
          </a:p>
          <a:p>
            <a:r>
              <a:rPr lang="en-US" sz="1600" dirty="0"/>
              <a:t> </a:t>
            </a:r>
            <a:endParaRPr lang="en-IN" sz="1600" dirty="0"/>
          </a:p>
          <a:p>
            <a:r>
              <a:rPr lang="en-US" sz="1600" dirty="0"/>
              <a:t>[9] “Campus Navigation on Android Platform,” IJSTE, 2014. </a:t>
            </a:r>
            <a:endParaRPr lang="en-IN" sz="1600" dirty="0"/>
          </a:p>
          <a:p>
            <a:r>
              <a:rPr lang="en-US" sz="1600" dirty="0"/>
              <a:t> </a:t>
            </a:r>
            <a:endParaRPr lang="en-IN" sz="1600" dirty="0"/>
          </a:p>
          <a:p>
            <a:r>
              <a:rPr lang="en-US" sz="1600" dirty="0"/>
              <a:t>[10] Bereket Haile — “Enhancing Campus Navigation with Mobile Applications,” 2023 thesis describing a mobile campus map app with location tracking and route direction. </a:t>
            </a:r>
            <a:endParaRPr lang="en-IN" sz="1600" dirty="0"/>
          </a:p>
          <a:p>
            <a:r>
              <a:rPr lang="en-US" sz="1600" b="1" dirty="0"/>
              <a:t> </a:t>
            </a:r>
            <a:endParaRPr lang="en-IN" sz="1600" dirty="0"/>
          </a:p>
          <a:p>
            <a:r>
              <a:rPr lang="en-IN" sz="1600" dirty="0"/>
              <a:t>[11] Stéphanie Jean-</a:t>
            </a:r>
            <a:r>
              <a:rPr lang="en-IN" sz="1600" dirty="0" err="1"/>
              <a:t>Daubias</a:t>
            </a:r>
            <a:r>
              <a:rPr lang="en-IN" sz="1600" dirty="0"/>
              <a:t>, Thierry </a:t>
            </a:r>
            <a:r>
              <a:rPr lang="en-IN" sz="1600" dirty="0" err="1"/>
              <a:t>Excoffier</a:t>
            </a:r>
            <a:r>
              <a:rPr lang="en-IN" sz="1600" dirty="0"/>
              <a:t>, Otman Azziz — “Routes to a Building or a Room Suited to the Specific Needs of Users,” 2024, describing a multi-service campus app combining resource discovery and internal orientation support.</a:t>
            </a:r>
          </a:p>
          <a:p>
            <a:r>
              <a:rPr lang="en-IN" sz="1600" dirty="0"/>
              <a:t>[12] Chia Hsuan Tsai, Fatemeh </a:t>
            </a:r>
            <a:r>
              <a:rPr lang="en-IN" sz="1600" dirty="0" err="1"/>
              <a:t>Elyasi</a:t>
            </a:r>
            <a:r>
              <a:rPr lang="en-IN" sz="1600" dirty="0"/>
              <a:t>, Peng Ren, Roberto </a:t>
            </a:r>
            <a:r>
              <a:rPr lang="en-IN" sz="1600" dirty="0" err="1"/>
              <a:t>Manduchi</a:t>
            </a:r>
            <a:r>
              <a:rPr lang="en-IN" sz="1600" dirty="0"/>
              <a:t> — “All the Way There and Back: Inertial-Based, Phone-in-Pocket Indoor Wayfinding and Backtracking Apps for Blind Travelers,” 2024, a study demonstrating sensor-based indoor navigation without external infrastructure. </a:t>
            </a:r>
          </a:p>
          <a:p>
            <a:r>
              <a:rPr lang="en-IN" sz="1600" dirty="0"/>
              <a:t>[</a:t>
            </a:r>
            <a:br>
              <a:rPr lang="en-IN" sz="1600" dirty="0"/>
            </a:br>
            <a:endParaRPr lang="en-IN" sz="1600" dirty="0"/>
          </a:p>
        </p:txBody>
      </p:sp>
      <p:sp>
        <p:nvSpPr>
          <p:cNvPr id="3" name="TextBox 2">
            <a:extLst>
              <a:ext uri="{FF2B5EF4-FFF2-40B4-BE49-F238E27FC236}">
                <a16:creationId xmlns:a16="http://schemas.microsoft.com/office/drawing/2014/main" id="{47D9D3D9-A8AA-341B-87F2-2664603B9F50}"/>
              </a:ext>
            </a:extLst>
          </p:cNvPr>
          <p:cNvSpPr txBox="1"/>
          <p:nvPr/>
        </p:nvSpPr>
        <p:spPr>
          <a:xfrm>
            <a:off x="5023556" y="191911"/>
            <a:ext cx="3589866" cy="523220"/>
          </a:xfrm>
          <a:prstGeom prst="rect">
            <a:avLst/>
          </a:prstGeom>
          <a:noFill/>
        </p:spPr>
        <p:txBody>
          <a:bodyPr wrap="square" rtlCol="0">
            <a:spAutoFit/>
          </a:bodyPr>
          <a:lstStyle/>
          <a:p>
            <a:r>
              <a:rPr lang="en-IN" sz="2800" b="1" dirty="0"/>
              <a:t>References</a:t>
            </a:r>
          </a:p>
        </p:txBody>
      </p:sp>
    </p:spTree>
    <p:extLst>
      <p:ext uri="{BB962C8B-B14F-4D97-AF65-F5344CB8AC3E}">
        <p14:creationId xmlns:p14="http://schemas.microsoft.com/office/powerpoint/2010/main" val="1197302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e architecture of vehicle routing system | Download Scientific Diagram">
            <a:extLst>
              <a:ext uri="{FF2B5EF4-FFF2-40B4-BE49-F238E27FC236}">
                <a16:creationId xmlns:a16="http://schemas.microsoft.com/office/drawing/2014/main" id="{DC5F9A96-E726-DAAF-9D2C-79BEC9A901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933" y="575733"/>
            <a:ext cx="14156267" cy="7371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68000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464</TotalTime>
  <Words>2284</Words>
  <Application>Microsoft Office PowerPoint</Application>
  <PresentationFormat>Custom</PresentationFormat>
  <Paragraphs>122</Paragraphs>
  <Slides>17</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Patrick Hand</vt:lpstr>
      <vt:lpstr>Century Gothic</vt:lpstr>
      <vt:lpstr>Wingdings 3</vt:lpstr>
      <vt:lpstr>Arial</vt:lpstr>
      <vt:lpstr>Times New Roman</vt:lpstr>
      <vt:lpstr>Wingdings</vt:lpstr>
      <vt:lpstr>Calibri</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UMA MAHESH</dc:creator>
  <cp:lastModifiedBy>vutukuri kiran</cp:lastModifiedBy>
  <cp:revision>21</cp:revision>
  <dcterms:created xsi:type="dcterms:W3CDTF">2025-08-08T05:17:54Z</dcterms:created>
  <dcterms:modified xsi:type="dcterms:W3CDTF">2026-02-24T07:37:08Z</dcterms:modified>
</cp:coreProperties>
</file>